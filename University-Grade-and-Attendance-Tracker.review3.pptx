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embeddedFontLst>
    <p:embeddedFont>
      <p:font typeface="Consolas" panose="020B0609020204030204" pitchFamily="49" charset="0"/>
      <p:regular r:id="rId22"/>
      <p:bold r:id="rId23"/>
      <p:italic r:id="rId24"/>
      <p:boldItalic r:id="rId25"/>
    </p:embeddedFont>
    <p:embeddedFont>
      <p:font typeface="Public Sans" panose="020B0604020202020204" charset="0"/>
      <p:regular r:id="rId26"/>
    </p:embeddedFont>
    <p:embeddedFont>
      <p:font typeface="Public Sans Bold" panose="020B0604020202020204" charset="0"/>
      <p:regular r:id="rId27"/>
    </p:embeddedFont>
    <p:embeddedFont>
      <p:font typeface="Public Sans SemiBold" panose="020B0604020202020204" charset="0"/>
      <p:regular r:id="rId28"/>
    </p:embeddedFont>
    <p:embeddedFont>
      <p:font typeface="Saira Semi Condensed" panose="020B0604020202020204" charset="0"/>
      <p:regular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000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3F4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A3F4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3F46"/>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908627" cy="6858000"/>
          </a:xfrm>
          <a:prstGeom prst="rect">
            <a:avLst/>
          </a:prstGeom>
          <a:solidFill>
            <a:srgbClr val="0A3F46"/>
          </a:solidFill>
          <a:ln/>
        </p:spPr>
      </p:sp>
      <p:sp>
        <p:nvSpPr>
          <p:cNvPr id="3" name="Text 1"/>
          <p:cNvSpPr/>
          <p:nvPr/>
        </p:nvSpPr>
        <p:spPr>
          <a:xfrm>
            <a:off x="431789" y="534353"/>
            <a:ext cx="647683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CAPSTONE PROJECT</a:t>
            </a:r>
            <a:endParaRPr lang="en-US" sz="1050" dirty="0"/>
          </a:p>
        </p:txBody>
      </p:sp>
      <p:sp>
        <p:nvSpPr>
          <p:cNvPr id="4" name="Text 2"/>
          <p:cNvSpPr/>
          <p:nvPr/>
        </p:nvSpPr>
        <p:spPr>
          <a:xfrm>
            <a:off x="431789" y="3655715"/>
            <a:ext cx="6045049" cy="1270000"/>
          </a:xfrm>
          <a:prstGeom prst="rect">
            <a:avLst/>
          </a:prstGeom>
          <a:noFill/>
          <a:ln/>
        </p:spPr>
        <p:txBody>
          <a:bodyPr wrap="square" lIns="0" tIns="0" rIns="0" bIns="0" rtlCol="0" anchor="t">
            <a:normAutofit lnSpcReduction="10000"/>
          </a:bodyPr>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University Grade &amp; Attendance Tracker</a:t>
            </a:r>
            <a:endParaRPr lang="en-US" sz="5000" dirty="0"/>
          </a:p>
        </p:txBody>
      </p:sp>
      <p:sp>
        <p:nvSpPr>
          <p:cNvPr id="5" name="Text 3"/>
          <p:cNvSpPr/>
          <p:nvPr/>
        </p:nvSpPr>
        <p:spPr>
          <a:xfrm>
            <a:off x="431789" y="5042872"/>
            <a:ext cx="6045049"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A Centralized Java Application for Academic Record Management, Automated Grading, and Attendance Analytics</a:t>
            </a:r>
            <a:endParaRPr lang="en-US" sz="1400" dirty="0"/>
          </a:p>
        </p:txBody>
      </p:sp>
      <p:sp>
        <p:nvSpPr>
          <p:cNvPr id="6" name="Text 4"/>
          <p:cNvSpPr/>
          <p:nvPr/>
        </p:nvSpPr>
        <p:spPr>
          <a:xfrm>
            <a:off x="431789" y="5765661"/>
            <a:ext cx="6045049" cy="559891"/>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TEAM MEMBERS:</a:t>
            </a:r>
            <a:endParaRPr lang="en-US" sz="1050" dirty="0"/>
          </a:p>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MARTHA HEMANTH SAI – 2620030510</a:t>
            </a:r>
            <a:endParaRPr lang="en-US" sz="1050" dirty="0"/>
          </a:p>
          <a:p>
            <a:pPr marL="0" indent="0" algn="l">
              <a:lnSpc>
                <a:spcPct val="117000"/>
              </a:lnSpc>
              <a:buNone/>
            </a:pPr>
            <a:r>
              <a:rPr lang="en-US" sz="1050" dirty="0">
                <a:solidFill>
                  <a:srgbClr val="FFFFFF"/>
                </a:solidFill>
                <a:latin typeface="Public Sans" pitchFamily="34" charset="0"/>
                <a:ea typeface="Public Sans" pitchFamily="34" charset="-122"/>
                <a:cs typeface="Public Sans" pitchFamily="34" charset="-120"/>
              </a:rPr>
              <a:t>PERICHARLA CHARAN VARMA - 2620030362</a:t>
            </a:r>
            <a:endParaRPr lang="en-US" sz="1050" dirty="0"/>
          </a:p>
        </p:txBody>
      </p:sp>
      <p:sp>
        <p:nvSpPr>
          <p:cNvPr id="7" name="Shape 5"/>
          <p:cNvSpPr/>
          <p:nvPr/>
        </p:nvSpPr>
        <p:spPr>
          <a:xfrm>
            <a:off x="6908627" y="0"/>
            <a:ext cx="5283068" cy="6858000"/>
          </a:xfrm>
          <a:prstGeom prst="rect">
            <a:avLst/>
          </a:prstGeom>
          <a:solidFill>
            <a:srgbClr val="0A3F46"/>
          </a:solidFill>
          <a:ln/>
        </p:spPr>
      </p:sp>
      <p:pic>
        <p:nvPicPr>
          <p:cNvPr id="8" name="Image 0" descr="preencoded.png"/>
          <p:cNvPicPr>
            <a:picLocks noChangeAspect="1"/>
          </p:cNvPicPr>
          <p:nvPr/>
        </p:nvPicPr>
        <p:blipFill>
          <a:blip r:embed="rId3"/>
          <a:stretch>
            <a:fillRect/>
          </a:stretch>
        </p:blipFill>
        <p:spPr>
          <a:xfrm>
            <a:off x="7264218" y="655042"/>
            <a:ext cx="3006749" cy="1257201"/>
          </a:xfrm>
          <a:prstGeom prst="rect">
            <a:avLst/>
          </a:prstGeom>
        </p:spPr>
      </p:pic>
      <p:pic>
        <p:nvPicPr>
          <p:cNvPr id="9" name="Image 1" descr="preencoded.png"/>
          <p:cNvPicPr>
            <a:picLocks noChangeAspect="1"/>
          </p:cNvPicPr>
          <p:nvPr/>
        </p:nvPicPr>
        <p:blipFill>
          <a:blip r:embed="rId4"/>
          <a:stretch>
            <a:fillRect/>
          </a:stretch>
        </p:blipFill>
        <p:spPr>
          <a:xfrm>
            <a:off x="7264218" y="2382143"/>
            <a:ext cx="4571886" cy="2690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4984" y="1818045"/>
            <a:ext cx="1153131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01 / PROJECT FOUNDATION</a:t>
            </a:r>
            <a:endParaRPr lang="en-US" sz="1050" dirty="0"/>
          </a:p>
        </p:txBody>
      </p:sp>
      <p:sp>
        <p:nvSpPr>
          <p:cNvPr id="3" name="Text 1"/>
          <p:cNvSpPr/>
          <p:nvPr/>
        </p:nvSpPr>
        <p:spPr>
          <a:xfrm>
            <a:off x="634984" y="2141835"/>
            <a:ext cx="10921727" cy="635000"/>
          </a:xfrm>
          <a:prstGeom prst="rect">
            <a:avLst/>
          </a:prstGeom>
          <a:noFill/>
          <a:ln/>
        </p:spPr>
        <p:txBody>
          <a:bodyPr wrap="none" lIns="0" tIns="0" rIns="0" bIns="0" rtlCol="0" anchor="t"/>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ABSTRACT</a:t>
            </a:r>
            <a:endParaRPr lang="en-US" sz="5000" dirty="0"/>
          </a:p>
        </p:txBody>
      </p:sp>
      <p:sp>
        <p:nvSpPr>
          <p:cNvPr id="4" name="Shape 2"/>
          <p:cNvSpPr/>
          <p:nvPr/>
        </p:nvSpPr>
        <p:spPr>
          <a:xfrm>
            <a:off x="634984" y="2933998"/>
            <a:ext cx="3604130" cy="38100"/>
          </a:xfrm>
          <a:prstGeom prst="roundRect">
            <a:avLst>
              <a:gd name="adj" fmla="val 49999"/>
            </a:avLst>
          </a:prstGeom>
          <a:solidFill>
            <a:srgbClr val="E8744F"/>
          </a:solidFill>
          <a:ln/>
        </p:spPr>
      </p:sp>
      <p:sp>
        <p:nvSpPr>
          <p:cNvPr id="5" name="Text 3"/>
          <p:cNvSpPr/>
          <p:nvPr/>
        </p:nvSpPr>
        <p:spPr>
          <a:xfrm>
            <a:off x="634984" y="3175298"/>
            <a:ext cx="10921727" cy="1865511"/>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600" dirty="0">
                <a:solidFill>
                  <a:srgbClr val="FFFFFF"/>
                </a:solidFill>
                <a:latin typeface="Public Sans" pitchFamily="34" charset="0"/>
                <a:ea typeface="Public Sans" pitchFamily="34" charset="-122"/>
                <a:cs typeface="Public Sans" pitchFamily="34" charset="-120"/>
              </a:rPr>
              <a:t>The University Grade &amp; Attendance Tracker is a centralized Java application designed to manage student academic records, automate grade calculations, and monitor attendance. The system stores student profiles, subject marks, and attendance information in a structured way, helping standardize academic evaluation.</a:t>
            </a:r>
            <a:endParaRPr lang="en-US" sz="1600" dirty="0"/>
          </a:p>
          <a:p>
            <a:pPr marL="0" indent="0" algn="l">
              <a:lnSpc>
                <a:spcPct val="117000"/>
              </a:lnSpc>
              <a:buNone/>
            </a:pPr>
            <a:r>
              <a:rPr lang="en-US" sz="1600" dirty="0">
                <a:solidFill>
                  <a:srgbClr val="FFFFFF"/>
                </a:solidFill>
                <a:latin typeface="Public Sans" pitchFamily="34" charset="0"/>
                <a:ea typeface="Public Sans" pitchFamily="34" charset="-122"/>
                <a:cs typeface="Public Sans" pitchFamily="34" charset="-120"/>
              </a:rPr>
              <a:t>The application reduces the time and calculation errors associated with manual record management. It automatically calculates totals, percentages, grade points, and attendance status, while identifying attendance shortages and supporting clear academic reports.</a:t>
            </a:r>
            <a:endParaRPr lang="en-US" sz="1600" dirty="0"/>
          </a:p>
        </p:txBody>
      </p:sp>
      <p:sp>
        <p:nvSpPr>
          <p:cNvPr id="6"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7" name="Text 5"/>
          <p:cNvSpPr/>
          <p:nvPr/>
        </p:nvSpPr>
        <p:spPr>
          <a:xfrm>
            <a:off x="11939686" y="6466086"/>
            <a:ext cx="25200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4984" y="1701264"/>
            <a:ext cx="1153131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02 / CONTEXT</a:t>
            </a:r>
            <a:endParaRPr lang="en-US" sz="1050" dirty="0"/>
          </a:p>
        </p:txBody>
      </p:sp>
      <p:sp>
        <p:nvSpPr>
          <p:cNvPr id="3" name="Text 1"/>
          <p:cNvSpPr/>
          <p:nvPr/>
        </p:nvSpPr>
        <p:spPr>
          <a:xfrm>
            <a:off x="634984" y="2025055"/>
            <a:ext cx="10921727" cy="635000"/>
          </a:xfrm>
          <a:prstGeom prst="rect">
            <a:avLst/>
          </a:prstGeom>
          <a:noFill/>
          <a:ln/>
        </p:spPr>
        <p:txBody>
          <a:bodyPr wrap="none" lIns="0" tIns="0" rIns="0" bIns="0" rtlCol="0" anchor="t"/>
          <a:lstStyle/>
          <a:p>
            <a:pPr marL="0" indent="0" algn="l">
              <a:lnSpc>
                <a:spcPct val="83000"/>
              </a:lnSpc>
              <a:buNone/>
            </a:pPr>
            <a:r>
              <a:rPr lang="en-US" sz="5000" dirty="0">
                <a:solidFill>
                  <a:srgbClr val="FFFFFF"/>
                </a:solidFill>
                <a:latin typeface="Saira Semi Condensed" pitchFamily="34" charset="0"/>
                <a:ea typeface="Saira Semi Condensed" pitchFamily="34" charset="-122"/>
                <a:cs typeface="Saira Semi Condensed" pitchFamily="34" charset="-120"/>
              </a:rPr>
              <a:t>INTRODUCTION</a:t>
            </a:r>
            <a:endParaRPr lang="en-US" sz="5000" dirty="0"/>
          </a:p>
        </p:txBody>
      </p:sp>
      <p:sp>
        <p:nvSpPr>
          <p:cNvPr id="4" name="Shape 2"/>
          <p:cNvSpPr/>
          <p:nvPr/>
        </p:nvSpPr>
        <p:spPr>
          <a:xfrm>
            <a:off x="634984" y="2766417"/>
            <a:ext cx="3604130" cy="38100"/>
          </a:xfrm>
          <a:prstGeom prst="roundRect">
            <a:avLst>
              <a:gd name="adj" fmla="val 49999"/>
            </a:avLst>
          </a:prstGeom>
          <a:solidFill>
            <a:srgbClr val="E8744F"/>
          </a:solidFill>
          <a:ln/>
        </p:spPr>
      </p:sp>
      <p:sp>
        <p:nvSpPr>
          <p:cNvPr id="5" name="Text 3"/>
          <p:cNvSpPr/>
          <p:nvPr/>
        </p:nvSpPr>
        <p:spPr>
          <a:xfrm>
            <a:off x="634984" y="3007717"/>
            <a:ext cx="10921727" cy="2149971"/>
          </a:xfrm>
          <a:prstGeom prst="rect">
            <a:avLst/>
          </a:prstGeom>
          <a:noFill/>
          <a:ln/>
        </p:spPr>
        <p:txBody>
          <a:bodyPr wrap="square" lIns="0" tIns="0" rIns="0" bIns="0" rtlCol="0" anchor="t">
            <a:normAutofit/>
          </a:bodyPr>
          <a:lstStyle/>
          <a:p>
            <a:pPr marL="0" indent="0" algn="l">
              <a:lnSpc>
                <a:spcPct val="117000"/>
              </a:lnSpc>
              <a:spcAft>
                <a:spcPts val="1200"/>
              </a:spcAft>
              <a:buNone/>
            </a:pPr>
            <a:r>
              <a:rPr lang="en-US" sz="1600" dirty="0">
                <a:solidFill>
                  <a:srgbClr val="FFFFFF"/>
                </a:solidFill>
                <a:latin typeface="Public Sans" pitchFamily="34" charset="0"/>
                <a:ea typeface="Public Sans" pitchFamily="34" charset="-122"/>
                <a:cs typeface="Public Sans" pitchFamily="34" charset="-120"/>
              </a:rPr>
              <a:t>Academic record management is an important part of university administration, but manual handling of student marks and attendance can be time-consuming and may lead to calculation or record-keeping errors. A centralized system can organize these records and make routine academic evaluation more consistent and efficient.</a:t>
            </a:r>
            <a:endParaRPr lang="en-US" sz="1600" dirty="0"/>
          </a:p>
          <a:p>
            <a:pPr marL="0" indent="0" algn="l">
              <a:lnSpc>
                <a:spcPct val="117000"/>
              </a:lnSpc>
              <a:buNone/>
            </a:pPr>
            <a:r>
              <a:rPr lang="en-US" sz="1600" dirty="0">
                <a:solidFill>
                  <a:srgbClr val="FFFFFF"/>
                </a:solidFill>
                <a:latin typeface="Public Sans" pitchFamily="34" charset="0"/>
                <a:ea typeface="Public Sans" pitchFamily="34" charset="-122"/>
                <a:cs typeface="Public Sans" pitchFamily="34" charset="-120"/>
              </a:rPr>
              <a:t>This project uses Java to develop a University Grade &amp; Attendance Tracker that combines student profiling, automated grade calculation, attendance monitoring, and reporting. The system applies conditional statements, loops, arrays, methods, and logical rules to process academic data and determine performance and attendance eligibility.</a:t>
            </a:r>
            <a:endParaRPr lang="en-US" sz="1600" dirty="0"/>
          </a:p>
        </p:txBody>
      </p:sp>
      <p:sp>
        <p:nvSpPr>
          <p:cNvPr id="6"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7" name="Text 5"/>
          <p:cNvSpPr/>
          <p:nvPr/>
        </p:nvSpPr>
        <p:spPr>
          <a:xfrm>
            <a:off x="11935419" y="6466086"/>
            <a:ext cx="256276"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03 / PURPOSE &amp; GOALS</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PROJECT OBJECTIVES</a:t>
            </a:r>
            <a:endParaRPr lang="en-US" sz="5000" dirty="0"/>
          </a:p>
        </p:txBody>
      </p:sp>
      <p:sp>
        <p:nvSpPr>
          <p:cNvPr id="4" name="Text 2"/>
          <p:cNvSpPr/>
          <p:nvPr/>
        </p:nvSpPr>
        <p:spPr>
          <a:xfrm>
            <a:off x="609585" y="1686501"/>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Four capabilities turn academic records into a consistent workflow.</a:t>
            </a:r>
            <a:endParaRPr lang="en-US" sz="1400" dirty="0"/>
          </a:p>
        </p:txBody>
      </p:sp>
      <p:sp>
        <p:nvSpPr>
          <p:cNvPr id="5" name="Shape 3"/>
          <p:cNvSpPr/>
          <p:nvPr/>
        </p:nvSpPr>
        <p:spPr>
          <a:xfrm>
            <a:off x="609585" y="2089646"/>
            <a:ext cx="2514537" cy="2936478"/>
          </a:xfrm>
          <a:prstGeom prst="roundRect">
            <a:avLst>
              <a:gd name="adj" fmla="val 455"/>
            </a:avLst>
          </a:prstGeom>
          <a:solidFill>
            <a:srgbClr val="0A3F46"/>
          </a:solidFill>
          <a:ln/>
        </p:spPr>
      </p:sp>
      <p:pic>
        <p:nvPicPr>
          <p:cNvPr id="6" name="Image 0" descr="preencoded.png"/>
          <p:cNvPicPr>
            <a:picLocks noChangeAspect="1"/>
          </p:cNvPicPr>
          <p:nvPr/>
        </p:nvPicPr>
        <p:blipFill>
          <a:blip r:embed="rId3"/>
          <a:stretch>
            <a:fillRect/>
          </a:stretch>
        </p:blipFill>
        <p:spPr>
          <a:xfrm>
            <a:off x="838179" y="2318246"/>
            <a:ext cx="390515" cy="390525"/>
          </a:xfrm>
          <a:prstGeom prst="rect">
            <a:avLst/>
          </a:prstGeom>
        </p:spPr>
      </p:pic>
      <p:sp>
        <p:nvSpPr>
          <p:cNvPr id="7" name="Text 4"/>
          <p:cNvSpPr/>
          <p:nvPr/>
        </p:nvSpPr>
        <p:spPr>
          <a:xfrm>
            <a:off x="838179"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Centralized Profiling</a:t>
            </a:r>
            <a:endParaRPr lang="en-US" sz="2000" dirty="0"/>
          </a:p>
        </p:txBody>
      </p:sp>
      <p:sp>
        <p:nvSpPr>
          <p:cNvPr id="8" name="Text 5"/>
          <p:cNvSpPr/>
          <p:nvPr/>
        </p:nvSpPr>
        <p:spPr>
          <a:xfrm>
            <a:off x="838179"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Standardize student records, marks, and attendance data in single dynamic arrays.</a:t>
            </a:r>
            <a:endParaRPr lang="en-US" sz="1400" dirty="0"/>
          </a:p>
        </p:txBody>
      </p:sp>
      <p:sp>
        <p:nvSpPr>
          <p:cNvPr id="9" name="Shape 6"/>
          <p:cNvSpPr/>
          <p:nvPr/>
        </p:nvSpPr>
        <p:spPr>
          <a:xfrm>
            <a:off x="3428914" y="2089646"/>
            <a:ext cx="2514537" cy="2936478"/>
          </a:xfrm>
          <a:prstGeom prst="roundRect">
            <a:avLst>
              <a:gd name="adj" fmla="val 455"/>
            </a:avLst>
          </a:prstGeom>
          <a:solidFill>
            <a:srgbClr val="0A3F46"/>
          </a:solidFill>
          <a:ln/>
        </p:spPr>
      </p:sp>
      <p:pic>
        <p:nvPicPr>
          <p:cNvPr id="10" name="Image 1" descr="preencoded.png"/>
          <p:cNvPicPr>
            <a:picLocks noChangeAspect="1"/>
          </p:cNvPicPr>
          <p:nvPr/>
        </p:nvPicPr>
        <p:blipFill>
          <a:blip r:embed="rId4"/>
          <a:stretch>
            <a:fillRect/>
          </a:stretch>
        </p:blipFill>
        <p:spPr>
          <a:xfrm>
            <a:off x="3657509" y="2318246"/>
            <a:ext cx="390515" cy="390525"/>
          </a:xfrm>
          <a:prstGeom prst="rect">
            <a:avLst/>
          </a:prstGeom>
        </p:spPr>
      </p:pic>
      <p:sp>
        <p:nvSpPr>
          <p:cNvPr id="11" name="Text 7"/>
          <p:cNvSpPr/>
          <p:nvPr/>
        </p:nvSpPr>
        <p:spPr>
          <a:xfrm>
            <a:off x="3657509"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Automated Grade Engine</a:t>
            </a:r>
            <a:endParaRPr lang="en-US" sz="2000" dirty="0"/>
          </a:p>
        </p:txBody>
      </p:sp>
      <p:sp>
        <p:nvSpPr>
          <p:cNvPr id="12" name="Text 8"/>
          <p:cNvSpPr/>
          <p:nvPr/>
        </p:nvSpPr>
        <p:spPr>
          <a:xfrm>
            <a:off x="3657509" y="3557766"/>
            <a:ext cx="2057349"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Calculate totals, percentages, GPA points, and letter grades without manual arithmetic.</a:t>
            </a:r>
            <a:endParaRPr lang="en-US" sz="1400" dirty="0"/>
          </a:p>
        </p:txBody>
      </p:sp>
      <p:sp>
        <p:nvSpPr>
          <p:cNvPr id="13" name="Shape 9"/>
          <p:cNvSpPr/>
          <p:nvPr/>
        </p:nvSpPr>
        <p:spPr>
          <a:xfrm>
            <a:off x="6248244" y="2089646"/>
            <a:ext cx="2514537" cy="2936478"/>
          </a:xfrm>
          <a:prstGeom prst="roundRect">
            <a:avLst>
              <a:gd name="adj" fmla="val 455"/>
            </a:avLst>
          </a:prstGeom>
          <a:solidFill>
            <a:srgbClr val="0A3F46"/>
          </a:solidFill>
          <a:ln/>
        </p:spPr>
      </p:sp>
      <p:pic>
        <p:nvPicPr>
          <p:cNvPr id="14" name="Image 2" descr="preencoded.png"/>
          <p:cNvPicPr>
            <a:picLocks noChangeAspect="1"/>
          </p:cNvPicPr>
          <p:nvPr/>
        </p:nvPicPr>
        <p:blipFill>
          <a:blip r:embed="rId3"/>
          <a:stretch>
            <a:fillRect/>
          </a:stretch>
        </p:blipFill>
        <p:spPr>
          <a:xfrm>
            <a:off x="6476838" y="2318246"/>
            <a:ext cx="390515" cy="390525"/>
          </a:xfrm>
          <a:prstGeom prst="rect">
            <a:avLst/>
          </a:prstGeom>
        </p:spPr>
      </p:pic>
      <p:sp>
        <p:nvSpPr>
          <p:cNvPr id="15" name="Text 10"/>
          <p:cNvSpPr/>
          <p:nvPr/>
        </p:nvSpPr>
        <p:spPr>
          <a:xfrm>
            <a:off x="6476838"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Attendance Tracking</a:t>
            </a:r>
            <a:endParaRPr lang="en-US" sz="2000" dirty="0"/>
          </a:p>
        </p:txBody>
      </p:sp>
      <p:sp>
        <p:nvSpPr>
          <p:cNvPr id="16" name="Text 11"/>
          <p:cNvSpPr/>
          <p:nvPr/>
        </p:nvSpPr>
        <p:spPr>
          <a:xfrm>
            <a:off x="6476838"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Monitor subject-wise attendance and trigger automatic eligibility warnings at 75%.</a:t>
            </a:r>
            <a:endParaRPr lang="en-US" sz="1400" dirty="0"/>
          </a:p>
        </p:txBody>
      </p:sp>
      <p:sp>
        <p:nvSpPr>
          <p:cNvPr id="17" name="Shape 12"/>
          <p:cNvSpPr/>
          <p:nvPr/>
        </p:nvSpPr>
        <p:spPr>
          <a:xfrm>
            <a:off x="9067573" y="2089646"/>
            <a:ext cx="2514537" cy="2936478"/>
          </a:xfrm>
          <a:prstGeom prst="roundRect">
            <a:avLst>
              <a:gd name="adj" fmla="val 455"/>
            </a:avLst>
          </a:prstGeom>
          <a:solidFill>
            <a:srgbClr val="0A3F46"/>
          </a:solidFill>
          <a:ln/>
        </p:spPr>
      </p:sp>
      <p:pic>
        <p:nvPicPr>
          <p:cNvPr id="18" name="Image 3" descr="preencoded.png"/>
          <p:cNvPicPr>
            <a:picLocks noChangeAspect="1"/>
          </p:cNvPicPr>
          <p:nvPr/>
        </p:nvPicPr>
        <p:blipFill>
          <a:blip r:embed="rId5"/>
          <a:stretch>
            <a:fillRect/>
          </a:stretch>
        </p:blipFill>
        <p:spPr>
          <a:xfrm>
            <a:off x="9296167" y="2318246"/>
            <a:ext cx="390515" cy="390525"/>
          </a:xfrm>
          <a:prstGeom prst="rect">
            <a:avLst/>
          </a:prstGeom>
        </p:spPr>
      </p:pic>
      <p:sp>
        <p:nvSpPr>
          <p:cNvPr id="19" name="Text 13"/>
          <p:cNvSpPr/>
          <p:nvPr/>
        </p:nvSpPr>
        <p:spPr>
          <a:xfrm>
            <a:off x="9296167" y="2883396"/>
            <a:ext cx="2057349"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Transcript Generation</a:t>
            </a:r>
            <a:endParaRPr lang="en-US" sz="2000" dirty="0"/>
          </a:p>
        </p:txBody>
      </p:sp>
      <p:sp>
        <p:nvSpPr>
          <p:cNvPr id="20" name="Text 14"/>
          <p:cNvSpPr/>
          <p:nvPr/>
        </p:nvSpPr>
        <p:spPr>
          <a:xfrm>
            <a:off x="9296167" y="3557766"/>
            <a:ext cx="2057349"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Generate clean, structured performance reports for faculty review and archives.</a:t>
            </a:r>
            <a:endParaRPr lang="en-US" sz="1400" dirty="0"/>
          </a:p>
        </p:txBody>
      </p:sp>
      <p:sp>
        <p:nvSpPr>
          <p:cNvPr id="21" name="Text 15"/>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22" name="Text 16"/>
          <p:cNvSpPr/>
          <p:nvPr/>
        </p:nvSpPr>
        <p:spPr>
          <a:xfrm>
            <a:off x="11935618" y="6466086"/>
            <a:ext cx="256077"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04 / EVALUATION &amp; BALANCED ANALYSIS</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ADVANTAGES &amp; LIMITATIONS</a:t>
            </a:r>
            <a:endParaRPr lang="en-US" sz="5000" dirty="0"/>
          </a:p>
        </p:txBody>
      </p:sp>
      <p:sp>
        <p:nvSpPr>
          <p:cNvPr id="4" name="Shape 2"/>
          <p:cNvSpPr/>
          <p:nvPr/>
        </p:nvSpPr>
        <p:spPr>
          <a:xfrm>
            <a:off x="609585" y="1682055"/>
            <a:ext cx="6400640" cy="3929261"/>
          </a:xfrm>
          <a:prstGeom prst="rect">
            <a:avLst/>
          </a:prstGeom>
          <a:solidFill>
            <a:srgbClr val="0A3F46"/>
          </a:solidFill>
          <a:ln/>
        </p:spPr>
      </p:sp>
      <p:sp>
        <p:nvSpPr>
          <p:cNvPr id="5" name="Text 3"/>
          <p:cNvSpPr/>
          <p:nvPr/>
        </p:nvSpPr>
        <p:spPr>
          <a:xfrm>
            <a:off x="990575" y="2013208"/>
            <a:ext cx="601964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KEY SYSTEM ADVANTAGES</a:t>
            </a:r>
            <a:endParaRPr lang="en-US" sz="1050" dirty="0"/>
          </a:p>
        </p:txBody>
      </p:sp>
      <p:sp>
        <p:nvSpPr>
          <p:cNvPr id="6" name="Text 4"/>
          <p:cNvSpPr/>
          <p:nvPr/>
        </p:nvSpPr>
        <p:spPr>
          <a:xfrm>
            <a:off x="990575" y="2298264"/>
            <a:ext cx="5638659" cy="446980"/>
          </a:xfrm>
          <a:prstGeom prst="rect">
            <a:avLst/>
          </a:prstGeom>
          <a:noFill/>
          <a:ln/>
        </p:spPr>
        <p:txBody>
          <a:bodyPr wrap="none" lIns="0" tIns="0" rIns="0" bIns="0" rtlCol="0" anchor="t"/>
          <a:lstStyle/>
          <a:p>
            <a:pPr marL="0" indent="0" algn="l">
              <a:lnSpc>
                <a:spcPct val="92000"/>
              </a:lnSpc>
              <a:buNone/>
            </a:pPr>
            <a:r>
              <a:rPr lang="en-US" sz="3200" dirty="0">
                <a:solidFill>
                  <a:srgbClr val="FFFFFF"/>
                </a:solidFill>
                <a:latin typeface="Saira Semi Condensed" pitchFamily="34" charset="0"/>
                <a:ea typeface="Saira Semi Condensed" pitchFamily="34" charset="-122"/>
                <a:cs typeface="Saira Semi Condensed" pitchFamily="34" charset="-120"/>
              </a:rPr>
              <a:t>Precision with less manual effort.</a:t>
            </a:r>
            <a:endParaRPr lang="en-US" sz="3200" dirty="0"/>
          </a:p>
        </p:txBody>
      </p:sp>
      <p:pic>
        <p:nvPicPr>
          <p:cNvPr id="7" name="Image 0" descr="preencoded.png"/>
          <p:cNvPicPr>
            <a:picLocks noChangeAspect="1"/>
          </p:cNvPicPr>
          <p:nvPr/>
        </p:nvPicPr>
        <p:blipFill>
          <a:blip r:embed="rId3"/>
          <a:stretch>
            <a:fillRect/>
          </a:stretch>
        </p:blipFill>
        <p:spPr>
          <a:xfrm>
            <a:off x="990575" y="2823666"/>
            <a:ext cx="228594" cy="228600"/>
          </a:xfrm>
          <a:prstGeom prst="rect">
            <a:avLst/>
          </a:prstGeom>
        </p:spPr>
      </p:pic>
      <p:sp>
        <p:nvSpPr>
          <p:cNvPr id="8" name="Text 5"/>
          <p:cNvSpPr/>
          <p:nvPr/>
        </p:nvSpPr>
        <p:spPr>
          <a:xfrm>
            <a:off x="990575" y="3157041"/>
            <a:ext cx="5638659"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100% Calculation Precision:</a:t>
            </a:r>
            <a:r>
              <a:rPr lang="en-US" sz="1400" dirty="0">
                <a:solidFill>
                  <a:srgbClr val="FFFFFF"/>
                </a:solidFill>
                <a:latin typeface="Public Sans" pitchFamily="34" charset="0"/>
                <a:ea typeface="Public Sans" pitchFamily="34" charset="-122"/>
                <a:cs typeface="Public Sans" pitchFamily="34" charset="-120"/>
              </a:rPr>
              <a:t> Eliminates manual grading and percentage errors.</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Time Efficiency:</a:t>
            </a:r>
            <a:r>
              <a:rPr lang="en-US" sz="1400" dirty="0">
                <a:solidFill>
                  <a:srgbClr val="FFFFFF"/>
                </a:solidFill>
                <a:latin typeface="Public Sans" pitchFamily="34" charset="0"/>
                <a:ea typeface="Public Sans" pitchFamily="34" charset="-122"/>
                <a:cs typeface="Public Sans" pitchFamily="34" charset="-120"/>
              </a:rPr>
              <a:t> Rapidly processes multi-course marks and attendance metrics.</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Automated Shortage Alerts:</a:t>
            </a:r>
            <a:r>
              <a:rPr lang="en-US" sz="1400" dirty="0">
                <a:solidFill>
                  <a:srgbClr val="FFFFFF"/>
                </a:solidFill>
                <a:latin typeface="Public Sans" pitchFamily="34" charset="0"/>
                <a:ea typeface="Public Sans" pitchFamily="34" charset="-122"/>
                <a:cs typeface="Public Sans" pitchFamily="34" charset="-120"/>
              </a:rPr>
              <a:t> Instantly flags attendance below 75% threshold.</a:t>
            </a:r>
            <a:endParaRPr lang="en-US" sz="1400" dirty="0"/>
          </a:p>
          <a:p>
            <a:pPr marL="284480" indent="-284480" algn="l">
              <a:lnSpc>
                <a:spcPct val="117000"/>
              </a:lnSpc>
              <a:buSzPct val="100000"/>
              <a:buChar char="•"/>
            </a:pPr>
            <a:r>
              <a:rPr lang="en-US" sz="1400" b="1" dirty="0">
                <a:solidFill>
                  <a:srgbClr val="FFFFFF"/>
                </a:solidFill>
                <a:latin typeface="Public Sans Bold" pitchFamily="34" charset="0"/>
                <a:ea typeface="Public Sans Bold" pitchFamily="34" charset="-122"/>
                <a:cs typeface="Public Sans Bold" pitchFamily="34" charset="-120"/>
              </a:rPr>
              <a:t>Lightweight Execution:</a:t>
            </a:r>
            <a:r>
              <a:rPr lang="en-US" sz="1400" dirty="0">
                <a:solidFill>
                  <a:srgbClr val="FFFFFF"/>
                </a:solidFill>
                <a:latin typeface="Public Sans" pitchFamily="34" charset="0"/>
                <a:ea typeface="Public Sans" pitchFamily="34" charset="-122"/>
                <a:cs typeface="Public Sans" pitchFamily="34" charset="-120"/>
              </a:rPr>
              <a:t> Operates seamlessly on standard JVM without heavy overhead.</a:t>
            </a:r>
            <a:endParaRPr lang="en-US" sz="1400" dirty="0"/>
          </a:p>
        </p:txBody>
      </p:sp>
      <p:sp>
        <p:nvSpPr>
          <p:cNvPr id="9" name="Shape 6"/>
          <p:cNvSpPr/>
          <p:nvPr/>
        </p:nvSpPr>
        <p:spPr>
          <a:xfrm>
            <a:off x="7314918" y="1682055"/>
            <a:ext cx="4267192" cy="3929261"/>
          </a:xfrm>
          <a:prstGeom prst="rect">
            <a:avLst/>
          </a:prstGeom>
          <a:solidFill>
            <a:srgbClr val="2F6A73"/>
          </a:solidFill>
          <a:ln/>
        </p:spPr>
      </p:sp>
      <p:sp>
        <p:nvSpPr>
          <p:cNvPr id="10" name="Text 7"/>
          <p:cNvSpPr/>
          <p:nvPr/>
        </p:nvSpPr>
        <p:spPr>
          <a:xfrm>
            <a:off x="7695908" y="2161639"/>
            <a:ext cx="388620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SYSTEM VALUE</a:t>
            </a:r>
            <a:endParaRPr lang="en-US" sz="1050" dirty="0"/>
          </a:p>
        </p:txBody>
      </p:sp>
      <p:sp>
        <p:nvSpPr>
          <p:cNvPr id="11" name="Text 8"/>
          <p:cNvSpPr/>
          <p:nvPr/>
        </p:nvSpPr>
        <p:spPr>
          <a:xfrm>
            <a:off x="7695908" y="2446695"/>
            <a:ext cx="3505212" cy="1787922"/>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FFFFFF"/>
                </a:solidFill>
                <a:latin typeface="Saira Semi Condensed" pitchFamily="34" charset="0"/>
                <a:ea typeface="Saira Semi Condensed" pitchFamily="34" charset="-122"/>
                <a:cs typeface="Saira Semi Condensed" pitchFamily="34" charset="-120"/>
              </a:rPr>
              <a:t>A clearer academic record, built for repeatable evaluation.</a:t>
            </a:r>
            <a:endParaRPr lang="en-US" sz="3200" dirty="0"/>
          </a:p>
        </p:txBody>
      </p:sp>
      <p:sp>
        <p:nvSpPr>
          <p:cNvPr id="12" name="Text 9"/>
          <p:cNvSpPr/>
          <p:nvPr/>
        </p:nvSpPr>
        <p:spPr>
          <a:xfrm>
            <a:off x="7695908" y="4390509"/>
            <a:ext cx="3505212"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Centralized records, automated calculations, and threshold-based alerts create a dependable review workflow.</a:t>
            </a:r>
            <a:endParaRPr lang="en-US" sz="1400" dirty="0"/>
          </a:p>
        </p:txBody>
      </p:sp>
      <p:sp>
        <p:nvSpPr>
          <p:cNvPr id="13" name="Text 10"/>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14" name="Text 11"/>
          <p:cNvSpPr/>
          <p:nvPr/>
        </p:nvSpPr>
        <p:spPr>
          <a:xfrm>
            <a:off x="11934130" y="6466086"/>
            <a:ext cx="25756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05 / METHODOLOGY &amp; ARCHITECTURE</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PROJECT DEVELOPMENT</a:t>
            </a:r>
            <a:endParaRPr lang="en-US" sz="5000" dirty="0"/>
          </a:p>
        </p:txBody>
      </p:sp>
      <p:sp>
        <p:nvSpPr>
          <p:cNvPr id="4" name="Shape 2"/>
          <p:cNvSpPr/>
          <p:nvPr/>
        </p:nvSpPr>
        <p:spPr>
          <a:xfrm>
            <a:off x="609585" y="1684139"/>
            <a:ext cx="313424" cy="313432"/>
          </a:xfrm>
          <a:prstGeom prst="ellipse">
            <a:avLst/>
          </a:prstGeom>
          <a:solidFill>
            <a:srgbClr val="0A3F46"/>
          </a:solidFill>
          <a:ln w="19050">
            <a:solidFill>
              <a:srgbClr val="23585F"/>
            </a:solidFill>
            <a:prstDash val="solid"/>
          </a:ln>
        </p:spPr>
      </p:sp>
      <p:sp>
        <p:nvSpPr>
          <p:cNvPr id="5" name="Text 3"/>
          <p:cNvSpPr/>
          <p:nvPr/>
        </p:nvSpPr>
        <p:spPr>
          <a:xfrm>
            <a:off x="673083" y="1751905"/>
            <a:ext cx="796012"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01</a:t>
            </a:r>
            <a:endParaRPr lang="en-US" sz="1400" dirty="0"/>
          </a:p>
        </p:txBody>
      </p:sp>
      <p:sp>
        <p:nvSpPr>
          <p:cNvPr id="6" name="Text 4"/>
          <p:cNvSpPr/>
          <p:nvPr/>
        </p:nvSpPr>
        <p:spPr>
          <a:xfrm>
            <a:off x="1100804" y="1697931"/>
            <a:ext cx="1048130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Requirement Analysis &amp; Schema Design</a:t>
            </a:r>
            <a:endParaRPr lang="en-US" sz="2000" dirty="0"/>
          </a:p>
        </p:txBody>
      </p:sp>
      <p:sp>
        <p:nvSpPr>
          <p:cNvPr id="7" name="Text 5"/>
          <p:cNvSpPr/>
          <p:nvPr/>
        </p:nvSpPr>
        <p:spPr>
          <a:xfrm>
            <a:off x="1100804" y="2092901"/>
            <a:ext cx="10481306"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Identified key academic parameters: subject marks, total classes, attended sessions, and evaluation thresholds.</a:t>
            </a:r>
            <a:endParaRPr lang="en-US" sz="1400" dirty="0"/>
          </a:p>
        </p:txBody>
      </p:sp>
      <p:sp>
        <p:nvSpPr>
          <p:cNvPr id="8" name="Shape 6"/>
          <p:cNvSpPr/>
          <p:nvPr/>
        </p:nvSpPr>
        <p:spPr>
          <a:xfrm>
            <a:off x="609585" y="2925068"/>
            <a:ext cx="348745" cy="348754"/>
          </a:xfrm>
          <a:prstGeom prst="ellipse">
            <a:avLst/>
          </a:prstGeom>
          <a:solidFill>
            <a:srgbClr val="0A3F46"/>
          </a:solidFill>
          <a:ln w="19050">
            <a:solidFill>
              <a:srgbClr val="23585F"/>
            </a:solidFill>
            <a:prstDash val="solid"/>
          </a:ln>
        </p:spPr>
      </p:sp>
      <p:sp>
        <p:nvSpPr>
          <p:cNvPr id="9" name="Text 7"/>
          <p:cNvSpPr/>
          <p:nvPr/>
        </p:nvSpPr>
        <p:spPr>
          <a:xfrm>
            <a:off x="673083" y="3010495"/>
            <a:ext cx="83133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02</a:t>
            </a:r>
            <a:endParaRPr lang="en-US" sz="1400" dirty="0"/>
          </a:p>
        </p:txBody>
      </p:sp>
      <p:sp>
        <p:nvSpPr>
          <p:cNvPr id="10" name="Text 8"/>
          <p:cNvSpPr/>
          <p:nvPr/>
        </p:nvSpPr>
        <p:spPr>
          <a:xfrm>
            <a:off x="1136125" y="2956520"/>
            <a:ext cx="1044598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Core Technology Selection</a:t>
            </a:r>
            <a:endParaRPr lang="en-US" sz="2000" dirty="0"/>
          </a:p>
        </p:txBody>
      </p:sp>
      <p:sp>
        <p:nvSpPr>
          <p:cNvPr id="11" name="Text 9"/>
          <p:cNvSpPr/>
          <p:nvPr/>
        </p:nvSpPr>
        <p:spPr>
          <a:xfrm>
            <a:off x="1136125" y="3351490"/>
            <a:ext cx="10445985"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Selected Core Java (JDK 11+) and standard IDE tooling (VS Code / Eclipse) for platform-independent execution.</a:t>
            </a:r>
            <a:endParaRPr lang="en-US" sz="1400" dirty="0"/>
          </a:p>
        </p:txBody>
      </p:sp>
      <p:sp>
        <p:nvSpPr>
          <p:cNvPr id="12" name="Shape 10"/>
          <p:cNvSpPr/>
          <p:nvPr/>
        </p:nvSpPr>
        <p:spPr>
          <a:xfrm>
            <a:off x="609585" y="4183757"/>
            <a:ext cx="353508" cy="353516"/>
          </a:xfrm>
          <a:prstGeom prst="ellipse">
            <a:avLst/>
          </a:prstGeom>
          <a:solidFill>
            <a:srgbClr val="0A3F46"/>
          </a:solidFill>
          <a:ln w="19050">
            <a:solidFill>
              <a:srgbClr val="23585F"/>
            </a:solidFill>
            <a:prstDash val="solid"/>
          </a:ln>
        </p:spPr>
      </p:sp>
      <p:sp>
        <p:nvSpPr>
          <p:cNvPr id="13" name="Text 11"/>
          <p:cNvSpPr/>
          <p:nvPr/>
        </p:nvSpPr>
        <p:spPr>
          <a:xfrm>
            <a:off x="673083" y="4271566"/>
            <a:ext cx="836095"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03</a:t>
            </a:r>
            <a:endParaRPr lang="en-US" sz="1400" dirty="0"/>
          </a:p>
        </p:txBody>
      </p:sp>
      <p:sp>
        <p:nvSpPr>
          <p:cNvPr id="14" name="Text 12"/>
          <p:cNvSpPr/>
          <p:nvPr/>
        </p:nvSpPr>
        <p:spPr>
          <a:xfrm>
            <a:off x="1140888" y="4217591"/>
            <a:ext cx="104412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Algorithmic Logic &amp; Business Rules Implementation</a:t>
            </a:r>
            <a:endParaRPr lang="en-US" sz="2000" dirty="0"/>
          </a:p>
        </p:txBody>
      </p:sp>
      <p:sp>
        <p:nvSpPr>
          <p:cNvPr id="15" name="Text 13"/>
          <p:cNvSpPr/>
          <p:nvPr/>
        </p:nvSpPr>
        <p:spPr>
          <a:xfrm>
            <a:off x="1140888" y="4612561"/>
            <a:ext cx="10441222"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Coded mathematical grading formulas, GPA mapping, and 75% attendance threshold verification logic.</a:t>
            </a:r>
            <a:endParaRPr lang="en-US" sz="1400" dirty="0"/>
          </a:p>
        </p:txBody>
      </p:sp>
      <p:sp>
        <p:nvSpPr>
          <p:cNvPr id="16" name="Shape 14"/>
          <p:cNvSpPr/>
          <p:nvPr/>
        </p:nvSpPr>
        <p:spPr>
          <a:xfrm>
            <a:off x="609585" y="5444827"/>
            <a:ext cx="352912" cy="352921"/>
          </a:xfrm>
          <a:prstGeom prst="ellipse">
            <a:avLst/>
          </a:prstGeom>
          <a:solidFill>
            <a:srgbClr val="0A3F46"/>
          </a:solidFill>
          <a:ln w="19050">
            <a:solidFill>
              <a:srgbClr val="23585F"/>
            </a:solidFill>
            <a:prstDash val="solid"/>
          </a:ln>
        </p:spPr>
      </p:sp>
      <p:sp>
        <p:nvSpPr>
          <p:cNvPr id="17" name="Text 15"/>
          <p:cNvSpPr/>
          <p:nvPr/>
        </p:nvSpPr>
        <p:spPr>
          <a:xfrm>
            <a:off x="673083" y="5532338"/>
            <a:ext cx="835500"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Public Sans SemiBold" pitchFamily="34" charset="0"/>
                <a:ea typeface="Public Sans SemiBold" pitchFamily="34" charset="-122"/>
                <a:cs typeface="Public Sans SemiBold" pitchFamily="34" charset="-120"/>
              </a:rPr>
              <a:t>04</a:t>
            </a:r>
            <a:endParaRPr lang="en-US" sz="1400" dirty="0"/>
          </a:p>
        </p:txBody>
      </p:sp>
      <p:sp>
        <p:nvSpPr>
          <p:cNvPr id="18" name="Text 16"/>
          <p:cNvSpPr/>
          <p:nvPr/>
        </p:nvSpPr>
        <p:spPr>
          <a:xfrm>
            <a:off x="1140293" y="5478363"/>
            <a:ext cx="10441818"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Verification &amp; Boundary Testing</a:t>
            </a:r>
            <a:endParaRPr lang="en-US" sz="2000" dirty="0"/>
          </a:p>
        </p:txBody>
      </p:sp>
      <p:sp>
        <p:nvSpPr>
          <p:cNvPr id="19" name="Text 17"/>
          <p:cNvSpPr/>
          <p:nvPr/>
        </p:nvSpPr>
        <p:spPr>
          <a:xfrm>
            <a:off x="1140293" y="5873333"/>
            <a:ext cx="104418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Validated sample inputs, edge cases (0% attendance, max marks), and formatted output display.</a:t>
            </a:r>
            <a:endParaRPr lang="en-US" sz="1400" dirty="0"/>
          </a:p>
        </p:txBody>
      </p:sp>
      <p:sp>
        <p:nvSpPr>
          <p:cNvPr id="20" name="Shape 18"/>
          <p:cNvSpPr/>
          <p:nvPr/>
        </p:nvSpPr>
        <p:spPr>
          <a:xfrm>
            <a:off x="609585" y="2690118"/>
            <a:ext cx="10972526" cy="12700"/>
          </a:xfrm>
          <a:prstGeom prst="rect">
            <a:avLst/>
          </a:prstGeom>
          <a:solidFill>
            <a:srgbClr val="2F6A73"/>
          </a:solidFill>
          <a:ln/>
        </p:spPr>
      </p:sp>
      <p:sp>
        <p:nvSpPr>
          <p:cNvPr id="21" name="Shape 19"/>
          <p:cNvSpPr/>
          <p:nvPr/>
        </p:nvSpPr>
        <p:spPr>
          <a:xfrm>
            <a:off x="609585" y="3948807"/>
            <a:ext cx="10972526" cy="12700"/>
          </a:xfrm>
          <a:prstGeom prst="rect">
            <a:avLst/>
          </a:prstGeom>
          <a:solidFill>
            <a:srgbClr val="2F6A73"/>
          </a:solidFill>
          <a:ln/>
        </p:spPr>
      </p:sp>
      <p:sp>
        <p:nvSpPr>
          <p:cNvPr id="22" name="Shape 20"/>
          <p:cNvSpPr/>
          <p:nvPr/>
        </p:nvSpPr>
        <p:spPr>
          <a:xfrm>
            <a:off x="609585" y="5209877"/>
            <a:ext cx="10972526" cy="12700"/>
          </a:xfrm>
          <a:prstGeom prst="rect">
            <a:avLst/>
          </a:prstGeom>
          <a:solidFill>
            <a:srgbClr val="2F6A73"/>
          </a:solidFill>
          <a:ln/>
        </p:spPr>
      </p:sp>
      <p:sp>
        <p:nvSpPr>
          <p:cNvPr id="23" name="Text 21"/>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24" name="Text 22"/>
          <p:cNvSpPr/>
          <p:nvPr/>
        </p:nvSpPr>
        <p:spPr>
          <a:xfrm>
            <a:off x="11936412" y="6466086"/>
            <a:ext cx="255283"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07 / CURRICULUM MAPPING</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COURSE OUTCOMES (COs) ADDRESSED</a:t>
            </a:r>
            <a:endParaRPr lang="en-US" sz="5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1682055"/>
          <a:ext cx="10972525" cy="3224131"/>
        </p:xfrm>
        <a:graphic>
          <a:graphicData uri="http://schemas.openxmlformats.org/drawingml/2006/table">
            <a:tbl>
              <a:tblPr/>
              <a:tblGrid>
                <a:gridCol w="1645819">
                  <a:extLst>
                    <a:ext uri="{9D8B030D-6E8A-4147-A177-3AD203B41FA5}">
                      <a16:colId xmlns:a16="http://schemas.microsoft.com/office/drawing/2014/main" val="20000"/>
                    </a:ext>
                  </a:extLst>
                </a:gridCol>
                <a:gridCol w="3840344">
                  <a:extLst>
                    <a:ext uri="{9D8B030D-6E8A-4147-A177-3AD203B41FA5}">
                      <a16:colId xmlns:a16="http://schemas.microsoft.com/office/drawing/2014/main" val="20001"/>
                    </a:ext>
                  </a:extLst>
                </a:gridCol>
                <a:gridCol w="5486362">
                  <a:extLst>
                    <a:ext uri="{9D8B030D-6E8A-4147-A177-3AD203B41FA5}">
                      <a16:colId xmlns:a16="http://schemas.microsoft.com/office/drawing/2014/main" val="20002"/>
                    </a:ext>
                  </a:extLst>
                </a:gridCol>
              </a:tblGrid>
              <a:tr h="646096">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Course Outcome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 Description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Implementation in Project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extLst>
                  <a:ext uri="{0D108BD9-81ED-4DB2-BD59-A6C34878D82A}">
                    <a16:rowId xmlns:a16="http://schemas.microsoft.com/office/drawing/2014/main" val="10000"/>
                  </a:ext>
                </a:extLst>
              </a:tr>
              <a:tr h="646096">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1</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Problem Analysis &amp; Logic Formulation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Converted manual record-keeping problems into clear algorithmic rules for attendance and grades.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1"/>
                  </a:ext>
                </a:extLst>
              </a:tr>
              <a:tr h="646096">
                <a:tc>
                  <a:txBody>
                    <a:bodyPr/>
                    <a:lstStyle/>
                    <a:p>
                      <a:pPr marL="0" indent="0" algn="l">
                        <a:buNone/>
                      </a:pPr>
                      <a:r>
                        <a:rPr lang="en-US" sz="1400" b="1" dirty="0">
                          <a:solidFill>
                            <a:srgbClr val="FFFFFF"/>
                          </a:solidFill>
                          <a:latin typeface="Public Sans" pitchFamily="34" charset="0"/>
                          <a:ea typeface="Public Sans" pitchFamily="34" charset="-122"/>
                          <a:cs typeface="Public Sans" pitchFamily="34" charset="-120"/>
                        </a:rPr>
                        <a:t>CO 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Data Structures &amp; Variable Allocation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Applied arrays to store dynamic numbers of subjects, marks, and attendance values efficiently.</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2F6A73"/>
                    </a:solidFill>
                  </a:tcPr>
                </a:tc>
                <a:extLst>
                  <a:ext uri="{0D108BD9-81ED-4DB2-BD59-A6C34878D82A}">
                    <a16:rowId xmlns:a16="http://schemas.microsoft.com/office/drawing/2014/main" val="10002"/>
                  </a:ext>
                </a:extLst>
              </a:tr>
              <a:tr h="646096">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2</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Flow Control &amp; Conditional Logic</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Used </a:t>
                      </a:r>
                      <a:r>
                        <a:rPr lang="en-US" sz="1400" dirty="0">
                          <a:solidFill>
                            <a:srgbClr val="EAF6FA"/>
                          </a:solidFill>
                          <a:latin typeface="Consolas" pitchFamily="34" charset="0"/>
                          <a:ea typeface="Consolas" pitchFamily="34" charset="-122"/>
                          <a:cs typeface="Consolas" pitchFamily="34" charset="-120"/>
                        </a:rPr>
                        <a:t>if-else</a:t>
                      </a:r>
                      <a:r>
                        <a:rPr lang="en-US" sz="1400" dirty="0">
                          <a:solidFill>
                            <a:srgbClr val="EAF6FA"/>
                          </a:solidFill>
                          <a:latin typeface="Public Sans" pitchFamily="34" charset="0"/>
                          <a:ea typeface="Public Sans" pitchFamily="34" charset="-122"/>
                          <a:cs typeface="Public Sans" pitchFamily="34" charset="-120"/>
                        </a:rPr>
                        <a:t> decision trees to apply grade thresholds and 75% attendance eligibility rules.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3"/>
                  </a:ext>
                </a:extLst>
              </a:tr>
              <a:tr h="639747">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 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Modular Software Implementation</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Designed reusable Java methods for calculating averages, GPA points, and formatted transcripts.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4"/>
                  </a:ext>
                </a:extLst>
              </a:tr>
            </a:tbl>
          </a:graphicData>
        </a:graphic>
      </p:graphicFrame>
      <p:sp>
        <p:nvSpPr>
          <p:cNvPr id="5" name="Text 2"/>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6" name="Text 3"/>
          <p:cNvSpPr/>
          <p:nvPr/>
        </p:nvSpPr>
        <p:spPr>
          <a:xfrm>
            <a:off x="11939090" y="6466086"/>
            <a:ext cx="25260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08 / CONCEPT TRACEABILITY</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COs Covered and Summary</a:t>
            </a:r>
            <a:endParaRPr lang="en-US" sz="5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682055"/>
          <a:ext cx="10972526" cy="2228795"/>
        </p:xfrm>
        <a:graphic>
          <a:graphicData uri="http://schemas.openxmlformats.org/drawingml/2006/table">
            <a:tbl>
              <a:tblPr/>
              <a:tblGrid>
                <a:gridCol w="3072216">
                  <a:extLst>
                    <a:ext uri="{9D8B030D-6E8A-4147-A177-3AD203B41FA5}">
                      <a16:colId xmlns:a16="http://schemas.microsoft.com/office/drawing/2014/main" val="20000"/>
                    </a:ext>
                  </a:extLst>
                </a:gridCol>
                <a:gridCol w="2413948">
                  <a:extLst>
                    <a:ext uri="{9D8B030D-6E8A-4147-A177-3AD203B41FA5}">
                      <a16:colId xmlns:a16="http://schemas.microsoft.com/office/drawing/2014/main" val="20001"/>
                    </a:ext>
                  </a:extLst>
                </a:gridCol>
                <a:gridCol w="3291738">
                  <a:extLst>
                    <a:ext uri="{9D8B030D-6E8A-4147-A177-3AD203B41FA5}">
                      <a16:colId xmlns:a16="http://schemas.microsoft.com/office/drawing/2014/main" val="20002"/>
                    </a:ext>
                  </a:extLst>
                </a:gridCol>
                <a:gridCol w="2194624">
                  <a:extLst>
                    <a:ext uri="{9D8B030D-6E8A-4147-A177-3AD203B41FA5}">
                      <a16:colId xmlns:a16="http://schemas.microsoft.com/office/drawing/2014/main" val="20003"/>
                    </a:ext>
                  </a:extLst>
                </a:gridCol>
              </a:tblGrid>
              <a:tr h="397262">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Topic</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Source notes</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Used in code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tc>
                  <a:txBody>
                    <a:bodyPr/>
                    <a:lstStyle/>
                    <a:p>
                      <a:pPr marL="0" indent="0" algn="l">
                        <a:buNone/>
                      </a:pPr>
                      <a:r>
                        <a:rPr lang="en-US" sz="1400" dirty="0">
                          <a:solidFill>
                            <a:srgbClr val="FFFFFF"/>
                          </a:solidFill>
                          <a:latin typeface="Public Sans" pitchFamily="34" charset="0"/>
                          <a:ea typeface="Public Sans" pitchFamily="34" charset="-122"/>
                          <a:cs typeface="Public Sans" pitchFamily="34" charset="-120"/>
                        </a:rPr>
                        <a:t>CO</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0A3F46"/>
                    </a:solidFill>
                  </a:tcPr>
                </a:tc>
                <a:extLst>
                  <a:ext uri="{0D108BD9-81ED-4DB2-BD59-A6C34878D82A}">
                    <a16:rowId xmlns:a16="http://schemas.microsoft.com/office/drawing/2014/main" val="10000"/>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final keyword</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final.txt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Constants for limits and name</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CO4</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1"/>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Collection Framework</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collection framework.txt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ArrayList and Iterator</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CO6</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2"/>
                  </a:ext>
                </a:extLst>
              </a:tr>
              <a:tr h="397262">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StringBuffer</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Java_StringBuffer.txt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append() for subject report</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b="1" dirty="0">
                          <a:solidFill>
                            <a:srgbClr val="EAF6FA"/>
                          </a:solidFill>
                          <a:latin typeface="Public Sans" pitchFamily="34" charset="0"/>
                          <a:ea typeface="Public Sans" pitchFamily="34" charset="-122"/>
                          <a:cs typeface="Public Sans" pitchFamily="34" charset="-120"/>
                        </a:rPr>
                        <a:t>CO5</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3"/>
                  </a:ext>
                </a:extLst>
              </a:tr>
              <a:tr h="639747">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Core Java (loops, arrays, operators, switch)</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Your original program</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dirty="0">
                          <a:solidFill>
                            <a:srgbClr val="EAF6FA"/>
                          </a:solidFill>
                          <a:latin typeface="Public Sans" pitchFamily="34" charset="0"/>
                          <a:ea typeface="Public Sans" pitchFamily="34" charset="-122"/>
                          <a:cs typeface="Public Sans" pitchFamily="34" charset="-120"/>
                        </a:rPr>
                        <a:t>Input, calculation, grading</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tc>
                  <a:txBody>
                    <a:bodyPr/>
                    <a:lstStyle/>
                    <a:p>
                      <a:pPr marL="0" indent="0" algn="l">
                        <a:buNone/>
                      </a:pPr>
                      <a:r>
                        <a:rPr lang="en-US" sz="1400" i="1" dirty="0">
                          <a:solidFill>
                            <a:srgbClr val="EAF6FA"/>
                          </a:solidFill>
                          <a:latin typeface="Public Sans" pitchFamily="34" charset="0"/>
                          <a:ea typeface="Public Sans" pitchFamily="34" charset="-122"/>
                          <a:cs typeface="Public Sans" pitchFamily="34" charset="-120"/>
                        </a:rPr>
                        <a:t>CO1,CO2,CO3</a:t>
                      </a:r>
                      <a:endParaRPr lang="en-US" sz="1400" dirty="0">
                        <a:latin typeface="Public Sans" charset="0"/>
                        <a:ea typeface="Public Sans" charset="0"/>
                        <a:cs typeface="Public Sans" charset="0"/>
                      </a:endParaRPr>
                    </a:p>
                  </a:txBody>
                  <a:tcPr marL="133347" marR="133347" marT="71118" marB="71118" anchor="ctr">
                    <a:lnL w="12700" cap="flat" cmpd="sng" algn="ctr">
                      <a:solidFill>
                        <a:srgbClr val="456D72"/>
                      </a:solidFill>
                      <a:prstDash val="solid"/>
                      <a:round/>
                      <a:headEnd type="none" w="med" len="med"/>
                      <a:tailEnd type="none" w="med" len="med"/>
                    </a:lnL>
                    <a:lnR w="12700" cap="flat" cmpd="sng" algn="ctr">
                      <a:solidFill>
                        <a:srgbClr val="456D72"/>
                      </a:solidFill>
                      <a:prstDash val="solid"/>
                      <a:round/>
                      <a:headEnd type="none" w="med" len="med"/>
                      <a:tailEnd type="none" w="med" len="med"/>
                    </a:lnR>
                    <a:lnT w="12700" cap="flat" cmpd="sng" algn="ctr">
                      <a:solidFill>
                        <a:srgbClr val="456D72"/>
                      </a:solidFill>
                      <a:prstDash val="solid"/>
                      <a:round/>
                      <a:headEnd type="none" w="med" len="med"/>
                      <a:tailEnd type="none" w="med" len="med"/>
                    </a:lnT>
                    <a:lnB w="12700" cap="flat" cmpd="sng" algn="ctr">
                      <a:solidFill>
                        <a:srgbClr val="456D72"/>
                      </a:solidFill>
                      <a:prstDash val="solid"/>
                      <a:round/>
                      <a:headEnd type="none" w="med" len="med"/>
                      <a:tailEnd type="none" w="med" len="med"/>
                    </a:lnB>
                    <a:solidFill>
                      <a:srgbClr val="174C53"/>
                    </a:solidFill>
                  </a:tcPr>
                </a:tc>
                <a:extLst>
                  <a:ext uri="{0D108BD9-81ED-4DB2-BD59-A6C34878D82A}">
                    <a16:rowId xmlns:a16="http://schemas.microsoft.com/office/drawing/2014/main" val="10004"/>
                  </a:ext>
                </a:extLst>
              </a:tr>
            </a:tbl>
          </a:graphicData>
        </a:graphic>
      </p:graphicFrame>
      <p:sp>
        <p:nvSpPr>
          <p:cNvPr id="5" name="Shape 2"/>
          <p:cNvSpPr/>
          <p:nvPr/>
        </p:nvSpPr>
        <p:spPr>
          <a:xfrm>
            <a:off x="609585" y="4082355"/>
            <a:ext cx="10972526" cy="693341"/>
          </a:xfrm>
          <a:prstGeom prst="roundRect">
            <a:avLst>
              <a:gd name="adj" fmla="val 1648"/>
            </a:avLst>
          </a:prstGeom>
          <a:solidFill>
            <a:srgbClr val="183A13"/>
          </a:solidFill>
          <a:ln/>
        </p:spPr>
      </p:sp>
      <p:sp>
        <p:nvSpPr>
          <p:cNvPr id="6" name="Text 3"/>
          <p:cNvSpPr/>
          <p:nvPr/>
        </p:nvSpPr>
        <p:spPr>
          <a:xfrm>
            <a:off x="787380" y="4309051"/>
            <a:ext cx="11226519" cy="248841"/>
          </a:xfrm>
          <a:prstGeom prst="rect">
            <a:avLst/>
          </a:prstGeom>
          <a:noFill/>
          <a:ln/>
        </p:spPr>
        <p:txBody>
          <a:bodyPr wrap="none" lIns="0" tIns="0" rIns="0" bIns="0" rtlCol="0" anchor="t"/>
          <a:lstStyle/>
          <a:p>
            <a:pPr marL="0" indent="0" algn="l">
              <a:lnSpc>
                <a:spcPct val="117000"/>
              </a:lnSpc>
              <a:buNone/>
            </a:pPr>
            <a:r>
              <a:rPr lang="en-US" sz="1400" b="1" dirty="0">
                <a:solidFill>
                  <a:srgbClr val="FFFFFF"/>
                </a:solidFill>
                <a:latin typeface="Public Sans Bold" pitchFamily="34" charset="0"/>
                <a:ea typeface="Public Sans Bold" pitchFamily="34" charset="-122"/>
                <a:cs typeface="Public Sans Bold" pitchFamily="34" charset="-120"/>
              </a:rPr>
              <a:t>Result:</a:t>
            </a:r>
            <a:r>
              <a:rPr lang="en-US" sz="1400" dirty="0">
                <a:solidFill>
                  <a:srgbClr val="FFFFFF"/>
                </a:solidFill>
                <a:latin typeface="Public Sans" pitchFamily="34" charset="0"/>
                <a:ea typeface="Public Sans" pitchFamily="34" charset="-122"/>
                <a:cs typeface="Public Sans" pitchFamily="34" charset="-120"/>
              </a:rPr>
              <a:t> one program that combines basic Java with the final keyword, the Collection Framework and StringBuffer.</a:t>
            </a:r>
            <a:endParaRPr lang="en-US" sz="1400" dirty="0"/>
          </a:p>
        </p:txBody>
      </p:sp>
      <p:sp>
        <p:nvSpPr>
          <p:cNvPr id="7" name="Text 4"/>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8" name="Text 5"/>
          <p:cNvSpPr/>
          <p:nvPr/>
        </p:nvSpPr>
        <p:spPr>
          <a:xfrm>
            <a:off x="11933336" y="6466086"/>
            <a:ext cx="25835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09 / PROGRAM LOGIC</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Program Overview and Implementation</a:t>
            </a:r>
            <a:endParaRPr lang="en-US" sz="5000" dirty="0"/>
          </a:p>
        </p:txBody>
      </p:sp>
      <p:sp>
        <p:nvSpPr>
          <p:cNvPr id="4" name="Text 2"/>
          <p:cNvSpPr/>
          <p:nvPr/>
        </p:nvSpPr>
        <p:spPr>
          <a:xfrm>
            <a:off x="609585" y="1910655"/>
            <a:ext cx="5333867" cy="196413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Takes student details: name, department, university ID</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Reads grades and attendance for every subject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Calculates average grade and overall attendance %</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Assigns a letter grade (A to F)</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Checks eligibility for final exams (attendance &gt;= 75% and average &gt;= 60%)</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Prints a formatted academic report</a:t>
            </a:r>
            <a:endParaRPr lang="en-US" sz="1400" dirty="0"/>
          </a:p>
        </p:txBody>
      </p:sp>
      <p:sp>
        <p:nvSpPr>
          <p:cNvPr id="5" name="Shape 3"/>
          <p:cNvSpPr/>
          <p:nvPr/>
        </p:nvSpPr>
        <p:spPr>
          <a:xfrm>
            <a:off x="6248244" y="1682055"/>
            <a:ext cx="5333867" cy="4630142"/>
          </a:xfrm>
          <a:prstGeom prst="rect">
            <a:avLst/>
          </a:prstGeom>
          <a:solidFill>
            <a:srgbClr val="0A3F46"/>
          </a:solidFill>
          <a:ln/>
        </p:spPr>
      </p:sp>
      <p:sp>
        <p:nvSpPr>
          <p:cNvPr id="6" name="Text 4"/>
          <p:cNvSpPr/>
          <p:nvPr/>
        </p:nvSpPr>
        <p:spPr>
          <a:xfrm>
            <a:off x="6527637" y="1962408"/>
            <a:ext cx="5054474"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OUTPUT PREVIEW</a:t>
            </a:r>
            <a:endParaRPr lang="en-US" sz="1050" dirty="0"/>
          </a:p>
        </p:txBody>
      </p:sp>
      <p:sp>
        <p:nvSpPr>
          <p:cNvPr id="7" name="Shape 5"/>
          <p:cNvSpPr/>
          <p:nvPr/>
        </p:nvSpPr>
        <p:spPr>
          <a:xfrm>
            <a:off x="6527637" y="2348111"/>
            <a:ext cx="4775081" cy="3484662"/>
          </a:xfrm>
          <a:prstGeom prst="roundRect">
            <a:avLst>
              <a:gd name="adj" fmla="val 328"/>
            </a:avLst>
          </a:prstGeom>
          <a:solidFill>
            <a:srgbClr val="174C53"/>
          </a:solidFill>
          <a:ln/>
        </p:spPr>
      </p:sp>
      <p:sp>
        <p:nvSpPr>
          <p:cNvPr id="8" name="Text 6"/>
          <p:cNvSpPr/>
          <p:nvPr/>
        </p:nvSpPr>
        <p:spPr>
          <a:xfrm>
            <a:off x="6740952" y="2526228"/>
            <a:ext cx="4348451" cy="312906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ACADEMIC REPORT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Student Name :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Department   :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SUBJECT-WISE DETAILS:</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1. Java -&gt; Grade: 85.0%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Average Grade: 82.50%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Letter Grade : B (Good)</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Attendance   : 80.00%</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STATUS: Eligible for Final Exams</a:t>
            </a:r>
            <a:endParaRPr lang="en-US" sz="1400" dirty="0"/>
          </a:p>
        </p:txBody>
      </p:sp>
      <p:sp>
        <p:nvSpPr>
          <p:cNvPr id="9" name="Text 7"/>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10" name="Text 8"/>
          <p:cNvSpPr/>
          <p:nvPr/>
        </p:nvSpPr>
        <p:spPr>
          <a:xfrm>
            <a:off x="11936114" y="6466086"/>
            <a:ext cx="255581"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10 / IMPLEMENTATION FLOW</a:t>
            </a:r>
            <a:endParaRPr lang="en-US" sz="1050" dirty="0"/>
          </a:p>
        </p:txBody>
      </p:sp>
      <p:sp>
        <p:nvSpPr>
          <p:cNvPr id="3" name="Text 1"/>
          <p:cNvSpPr/>
          <p:nvPr/>
        </p:nvSpPr>
        <p:spPr>
          <a:xfrm>
            <a:off x="609585" y="934343"/>
            <a:ext cx="10972526" cy="635000"/>
          </a:xfrm>
          <a:prstGeom prst="rect">
            <a:avLst/>
          </a:prstGeom>
          <a:noFill/>
          <a:ln/>
        </p:spPr>
        <p:txBody>
          <a:bodyPr wrap="none" lIns="0" tIns="0" rIns="0" bIns="0" rtlCol="0" anchor="t"/>
          <a:lstStyle/>
          <a:p>
            <a:pPr marL="0" indent="0" algn="l">
              <a:lnSpc>
                <a:spcPct val="83000"/>
              </a:lnSpc>
              <a:buNone/>
            </a:pPr>
            <a:r>
              <a:rPr lang="en-US" sz="5000" dirty="0">
                <a:solidFill>
                  <a:srgbClr val="EAF6FA"/>
                </a:solidFill>
                <a:latin typeface="Saira Semi Condensed" pitchFamily="34" charset="0"/>
                <a:ea typeface="Saira Semi Condensed" pitchFamily="34" charset="-122"/>
                <a:cs typeface="Saira Semi Condensed" pitchFamily="34" charset="-120"/>
              </a:rPr>
              <a:t>How the Code Was Created: 6 Steps</a:t>
            </a:r>
            <a:endParaRPr lang="en-US" sz="5000" dirty="0"/>
          </a:p>
        </p:txBody>
      </p:sp>
      <p:sp>
        <p:nvSpPr>
          <p:cNvPr id="4" name="Shape 2"/>
          <p:cNvSpPr/>
          <p:nvPr/>
        </p:nvSpPr>
        <p:spPr>
          <a:xfrm>
            <a:off x="609585" y="1682055"/>
            <a:ext cx="3505112" cy="1653679"/>
          </a:xfrm>
          <a:prstGeom prst="roundRect">
            <a:avLst>
              <a:gd name="adj" fmla="val 691"/>
            </a:avLst>
          </a:prstGeom>
          <a:solidFill>
            <a:srgbClr val="0A3F46"/>
          </a:solidFill>
          <a:ln/>
        </p:spPr>
      </p:sp>
      <p:sp>
        <p:nvSpPr>
          <p:cNvPr id="5" name="Shape 3"/>
          <p:cNvSpPr/>
          <p:nvPr/>
        </p:nvSpPr>
        <p:spPr>
          <a:xfrm>
            <a:off x="812780" y="1885255"/>
            <a:ext cx="358171" cy="270173"/>
          </a:xfrm>
          <a:prstGeom prst="roundRect">
            <a:avLst>
              <a:gd name="adj" fmla="val 4231"/>
            </a:avLst>
          </a:prstGeom>
          <a:solidFill>
            <a:srgbClr val="0A3C43"/>
          </a:solidFill>
          <a:ln/>
        </p:spPr>
      </p:sp>
      <p:sp>
        <p:nvSpPr>
          <p:cNvPr id="6" name="Text 4"/>
          <p:cNvSpPr/>
          <p:nvPr/>
        </p:nvSpPr>
        <p:spPr>
          <a:xfrm>
            <a:off x="919437" y="1939257"/>
            <a:ext cx="754441"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01</a:t>
            </a:r>
            <a:endParaRPr lang="en-US" sz="1100" dirty="0"/>
          </a:p>
        </p:txBody>
      </p:sp>
      <p:sp>
        <p:nvSpPr>
          <p:cNvPr id="7" name="Text 5"/>
          <p:cNvSpPr/>
          <p:nvPr/>
        </p:nvSpPr>
        <p:spPr>
          <a:xfrm>
            <a:off x="812780" y="2244328"/>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Constants</a:t>
            </a:r>
            <a:endParaRPr lang="en-US" sz="2000" dirty="0"/>
          </a:p>
        </p:txBody>
      </p:sp>
      <p:sp>
        <p:nvSpPr>
          <p:cNvPr id="8" name="Text 6"/>
          <p:cNvSpPr/>
          <p:nvPr/>
        </p:nvSpPr>
        <p:spPr>
          <a:xfrm>
            <a:off x="812780" y="2639298"/>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final variables for university name, 75% and 60% limits</a:t>
            </a:r>
            <a:endParaRPr lang="en-US" sz="1400" dirty="0"/>
          </a:p>
        </p:txBody>
      </p:sp>
      <p:sp>
        <p:nvSpPr>
          <p:cNvPr id="9" name="Shape 7"/>
          <p:cNvSpPr/>
          <p:nvPr/>
        </p:nvSpPr>
        <p:spPr>
          <a:xfrm>
            <a:off x="4419489" y="1682055"/>
            <a:ext cx="3352716" cy="1653679"/>
          </a:xfrm>
          <a:prstGeom prst="roundRect">
            <a:avLst>
              <a:gd name="adj" fmla="val 691"/>
            </a:avLst>
          </a:prstGeom>
          <a:solidFill>
            <a:srgbClr val="0A3F46"/>
          </a:solidFill>
          <a:ln/>
        </p:spPr>
      </p:sp>
      <p:sp>
        <p:nvSpPr>
          <p:cNvPr id="10" name="Shape 8"/>
          <p:cNvSpPr/>
          <p:nvPr/>
        </p:nvSpPr>
        <p:spPr>
          <a:xfrm>
            <a:off x="4622684" y="1885255"/>
            <a:ext cx="384959" cy="270173"/>
          </a:xfrm>
          <a:prstGeom prst="roundRect">
            <a:avLst>
              <a:gd name="adj" fmla="val 4231"/>
            </a:avLst>
          </a:prstGeom>
          <a:solidFill>
            <a:srgbClr val="0A3C43"/>
          </a:solidFill>
          <a:ln/>
        </p:spPr>
      </p:sp>
      <p:sp>
        <p:nvSpPr>
          <p:cNvPr id="11" name="Text 9"/>
          <p:cNvSpPr/>
          <p:nvPr/>
        </p:nvSpPr>
        <p:spPr>
          <a:xfrm>
            <a:off x="4729342" y="1939257"/>
            <a:ext cx="781229"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02</a:t>
            </a:r>
            <a:endParaRPr lang="en-US" sz="1100" dirty="0"/>
          </a:p>
        </p:txBody>
      </p:sp>
      <p:sp>
        <p:nvSpPr>
          <p:cNvPr id="12" name="Text 10"/>
          <p:cNvSpPr/>
          <p:nvPr/>
        </p:nvSpPr>
        <p:spPr>
          <a:xfrm>
            <a:off x="4622684" y="2244328"/>
            <a:ext cx="29463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Input</a:t>
            </a:r>
            <a:endParaRPr lang="en-US" sz="2000" dirty="0"/>
          </a:p>
        </p:txBody>
      </p:sp>
      <p:sp>
        <p:nvSpPr>
          <p:cNvPr id="13" name="Text 11"/>
          <p:cNvSpPr/>
          <p:nvPr/>
        </p:nvSpPr>
        <p:spPr>
          <a:xfrm>
            <a:off x="4622684" y="2639298"/>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Scanner reads student info and subject details</a:t>
            </a:r>
            <a:endParaRPr lang="en-US" sz="1400" dirty="0"/>
          </a:p>
        </p:txBody>
      </p:sp>
      <p:sp>
        <p:nvSpPr>
          <p:cNvPr id="14" name="Shape 12"/>
          <p:cNvSpPr/>
          <p:nvPr/>
        </p:nvSpPr>
        <p:spPr>
          <a:xfrm>
            <a:off x="8076998" y="1682055"/>
            <a:ext cx="3505112" cy="1653679"/>
          </a:xfrm>
          <a:prstGeom prst="roundRect">
            <a:avLst>
              <a:gd name="adj" fmla="val 691"/>
            </a:avLst>
          </a:prstGeom>
          <a:solidFill>
            <a:srgbClr val="0A3F46"/>
          </a:solidFill>
          <a:ln/>
        </p:spPr>
      </p:sp>
      <p:sp>
        <p:nvSpPr>
          <p:cNvPr id="15" name="Shape 13"/>
          <p:cNvSpPr/>
          <p:nvPr/>
        </p:nvSpPr>
        <p:spPr>
          <a:xfrm>
            <a:off x="8280193" y="1885255"/>
            <a:ext cx="388928" cy="270173"/>
          </a:xfrm>
          <a:prstGeom prst="roundRect">
            <a:avLst>
              <a:gd name="adj" fmla="val 4231"/>
            </a:avLst>
          </a:prstGeom>
          <a:solidFill>
            <a:srgbClr val="0A3C43"/>
          </a:solidFill>
          <a:ln/>
        </p:spPr>
      </p:sp>
      <p:sp>
        <p:nvSpPr>
          <p:cNvPr id="16" name="Text 14"/>
          <p:cNvSpPr/>
          <p:nvPr/>
        </p:nvSpPr>
        <p:spPr>
          <a:xfrm>
            <a:off x="8386850" y="1939257"/>
            <a:ext cx="785198"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03</a:t>
            </a:r>
            <a:endParaRPr lang="en-US" sz="1100" dirty="0"/>
          </a:p>
        </p:txBody>
      </p:sp>
      <p:sp>
        <p:nvSpPr>
          <p:cNvPr id="17" name="Text 15"/>
          <p:cNvSpPr/>
          <p:nvPr/>
        </p:nvSpPr>
        <p:spPr>
          <a:xfrm>
            <a:off x="8280193" y="2244328"/>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Store</a:t>
            </a:r>
            <a:endParaRPr lang="en-US" sz="2000" dirty="0"/>
          </a:p>
        </p:txBody>
      </p:sp>
      <p:sp>
        <p:nvSpPr>
          <p:cNvPr id="18" name="Text 16"/>
          <p:cNvSpPr/>
          <p:nvPr/>
        </p:nvSpPr>
        <p:spPr>
          <a:xfrm>
            <a:off x="8280193" y="2639298"/>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arrays for marks and classes, ArrayList for subject names</a:t>
            </a:r>
            <a:endParaRPr lang="en-US" sz="1400" dirty="0"/>
          </a:p>
        </p:txBody>
      </p:sp>
      <p:sp>
        <p:nvSpPr>
          <p:cNvPr id="19" name="Shape 17"/>
          <p:cNvSpPr/>
          <p:nvPr/>
        </p:nvSpPr>
        <p:spPr>
          <a:xfrm>
            <a:off x="609585" y="3640534"/>
            <a:ext cx="3505112" cy="1653679"/>
          </a:xfrm>
          <a:prstGeom prst="roundRect">
            <a:avLst>
              <a:gd name="adj" fmla="val 691"/>
            </a:avLst>
          </a:prstGeom>
          <a:solidFill>
            <a:srgbClr val="0A3F46"/>
          </a:solidFill>
          <a:ln/>
        </p:spPr>
      </p:sp>
      <p:sp>
        <p:nvSpPr>
          <p:cNvPr id="20" name="Shape 18"/>
          <p:cNvSpPr/>
          <p:nvPr/>
        </p:nvSpPr>
        <p:spPr>
          <a:xfrm>
            <a:off x="812780" y="3843734"/>
            <a:ext cx="389424" cy="270173"/>
          </a:xfrm>
          <a:prstGeom prst="roundRect">
            <a:avLst>
              <a:gd name="adj" fmla="val 4231"/>
            </a:avLst>
          </a:prstGeom>
          <a:solidFill>
            <a:srgbClr val="0A3C43"/>
          </a:solidFill>
          <a:ln/>
        </p:spPr>
      </p:sp>
      <p:sp>
        <p:nvSpPr>
          <p:cNvPr id="21" name="Text 19"/>
          <p:cNvSpPr/>
          <p:nvPr/>
        </p:nvSpPr>
        <p:spPr>
          <a:xfrm>
            <a:off x="919437" y="3897736"/>
            <a:ext cx="785694"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04</a:t>
            </a:r>
            <a:endParaRPr lang="en-US" sz="1100" dirty="0"/>
          </a:p>
        </p:txBody>
      </p:sp>
      <p:sp>
        <p:nvSpPr>
          <p:cNvPr id="22" name="Text 20"/>
          <p:cNvSpPr/>
          <p:nvPr/>
        </p:nvSpPr>
        <p:spPr>
          <a:xfrm>
            <a:off x="812780" y="4202807"/>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Calculate</a:t>
            </a:r>
            <a:endParaRPr lang="en-US" sz="2000" dirty="0"/>
          </a:p>
        </p:txBody>
      </p:sp>
      <p:sp>
        <p:nvSpPr>
          <p:cNvPr id="23" name="Text 21"/>
          <p:cNvSpPr/>
          <p:nvPr/>
        </p:nvSpPr>
        <p:spPr>
          <a:xfrm>
            <a:off x="812780" y="4597777"/>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totals, average, attendance % using operators and casting</a:t>
            </a:r>
            <a:endParaRPr lang="en-US" sz="1400" dirty="0"/>
          </a:p>
        </p:txBody>
      </p:sp>
      <p:sp>
        <p:nvSpPr>
          <p:cNvPr id="24" name="Shape 22"/>
          <p:cNvSpPr/>
          <p:nvPr/>
        </p:nvSpPr>
        <p:spPr>
          <a:xfrm>
            <a:off x="4419489" y="3640534"/>
            <a:ext cx="3352716" cy="1653679"/>
          </a:xfrm>
          <a:prstGeom prst="roundRect">
            <a:avLst>
              <a:gd name="adj" fmla="val 691"/>
            </a:avLst>
          </a:prstGeom>
          <a:solidFill>
            <a:srgbClr val="0A3F46"/>
          </a:solidFill>
          <a:ln/>
        </p:spPr>
      </p:sp>
      <p:sp>
        <p:nvSpPr>
          <p:cNvPr id="25" name="Shape 23"/>
          <p:cNvSpPr/>
          <p:nvPr/>
        </p:nvSpPr>
        <p:spPr>
          <a:xfrm>
            <a:off x="4622684" y="3843734"/>
            <a:ext cx="391309" cy="270173"/>
          </a:xfrm>
          <a:prstGeom prst="roundRect">
            <a:avLst>
              <a:gd name="adj" fmla="val 4231"/>
            </a:avLst>
          </a:prstGeom>
          <a:solidFill>
            <a:srgbClr val="0A3C43"/>
          </a:solidFill>
          <a:ln/>
        </p:spPr>
      </p:sp>
      <p:sp>
        <p:nvSpPr>
          <p:cNvPr id="26" name="Text 24"/>
          <p:cNvSpPr/>
          <p:nvPr/>
        </p:nvSpPr>
        <p:spPr>
          <a:xfrm>
            <a:off x="4729342" y="3897736"/>
            <a:ext cx="787579"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05</a:t>
            </a:r>
            <a:endParaRPr lang="en-US" sz="1100" dirty="0"/>
          </a:p>
        </p:txBody>
      </p:sp>
      <p:sp>
        <p:nvSpPr>
          <p:cNvPr id="27" name="Text 25"/>
          <p:cNvSpPr/>
          <p:nvPr/>
        </p:nvSpPr>
        <p:spPr>
          <a:xfrm>
            <a:off x="4622684" y="4202807"/>
            <a:ext cx="29463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Decide</a:t>
            </a:r>
            <a:endParaRPr lang="en-US" sz="2000" dirty="0"/>
          </a:p>
        </p:txBody>
      </p:sp>
      <p:sp>
        <p:nvSpPr>
          <p:cNvPr id="28" name="Text 26"/>
          <p:cNvSpPr/>
          <p:nvPr/>
        </p:nvSpPr>
        <p:spPr>
          <a:xfrm>
            <a:off x="4622684" y="4597777"/>
            <a:ext cx="294632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if-else, switch, &amp;&amp; and ternary for grade and eligibility</a:t>
            </a:r>
            <a:endParaRPr lang="en-US" sz="1400" dirty="0"/>
          </a:p>
        </p:txBody>
      </p:sp>
      <p:sp>
        <p:nvSpPr>
          <p:cNvPr id="29" name="Shape 27"/>
          <p:cNvSpPr/>
          <p:nvPr/>
        </p:nvSpPr>
        <p:spPr>
          <a:xfrm>
            <a:off x="8076998" y="3640534"/>
            <a:ext cx="3505112" cy="1653679"/>
          </a:xfrm>
          <a:prstGeom prst="roundRect">
            <a:avLst>
              <a:gd name="adj" fmla="val 691"/>
            </a:avLst>
          </a:prstGeom>
          <a:solidFill>
            <a:srgbClr val="0A3F46"/>
          </a:solidFill>
          <a:ln/>
        </p:spPr>
      </p:sp>
      <p:sp>
        <p:nvSpPr>
          <p:cNvPr id="30" name="Shape 28"/>
          <p:cNvSpPr/>
          <p:nvPr/>
        </p:nvSpPr>
        <p:spPr>
          <a:xfrm>
            <a:off x="8280193" y="3843734"/>
            <a:ext cx="387836" cy="270173"/>
          </a:xfrm>
          <a:prstGeom prst="roundRect">
            <a:avLst>
              <a:gd name="adj" fmla="val 4231"/>
            </a:avLst>
          </a:prstGeom>
          <a:solidFill>
            <a:srgbClr val="0A3C43"/>
          </a:solidFill>
          <a:ln/>
        </p:spPr>
      </p:sp>
      <p:sp>
        <p:nvSpPr>
          <p:cNvPr id="31" name="Text 29"/>
          <p:cNvSpPr/>
          <p:nvPr/>
        </p:nvSpPr>
        <p:spPr>
          <a:xfrm>
            <a:off x="8386850" y="3897736"/>
            <a:ext cx="784106" cy="163612"/>
          </a:xfrm>
          <a:prstGeom prst="rect">
            <a:avLst/>
          </a:prstGeom>
          <a:noFill/>
          <a:ln/>
        </p:spPr>
        <p:txBody>
          <a:bodyPr wrap="none" lIns="0" tIns="0" rIns="0" bIns="0" rtlCol="0" anchor="t"/>
          <a:lstStyle/>
          <a:p>
            <a:pPr marL="0" indent="0" algn="l">
              <a:lnSpc>
                <a:spcPct val="96000"/>
              </a:lnSpc>
              <a:buNone/>
            </a:pPr>
            <a:r>
              <a:rPr lang="en-US" sz="1100" dirty="0">
                <a:solidFill>
                  <a:srgbClr val="EAF6FA"/>
                </a:solidFill>
                <a:latin typeface="Public Sans" pitchFamily="34" charset="0"/>
                <a:ea typeface="Public Sans" pitchFamily="34" charset="-122"/>
                <a:cs typeface="Public Sans" pitchFamily="34" charset="-120"/>
              </a:rPr>
              <a:t>06</a:t>
            </a:r>
            <a:endParaRPr lang="en-US" sz="1100" dirty="0"/>
          </a:p>
        </p:txBody>
      </p:sp>
      <p:sp>
        <p:nvSpPr>
          <p:cNvPr id="32" name="Text 30"/>
          <p:cNvSpPr/>
          <p:nvPr/>
        </p:nvSpPr>
        <p:spPr>
          <a:xfrm>
            <a:off x="8280193" y="4202807"/>
            <a:ext cx="3098722"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Report</a:t>
            </a:r>
            <a:endParaRPr lang="en-US" sz="2000" dirty="0"/>
          </a:p>
        </p:txBody>
      </p:sp>
      <p:sp>
        <p:nvSpPr>
          <p:cNvPr id="33" name="Text 31"/>
          <p:cNvSpPr/>
          <p:nvPr/>
        </p:nvSpPr>
        <p:spPr>
          <a:xfrm>
            <a:off x="8280193" y="4597777"/>
            <a:ext cx="3098722"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StringBuffer append() builds subject lines; printf prints report</a:t>
            </a:r>
            <a:endParaRPr lang="en-US" sz="1400" dirty="0"/>
          </a:p>
        </p:txBody>
      </p:sp>
      <p:sp>
        <p:nvSpPr>
          <p:cNvPr id="34" name="Text 32"/>
          <p:cNvSpPr/>
          <p:nvPr/>
        </p:nvSpPr>
        <p:spPr>
          <a:xfrm>
            <a:off x="177895" y="6466086"/>
            <a:ext cx="2161030"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JAVA • ACADEMIC SYSTEM</a:t>
            </a:r>
            <a:endParaRPr lang="en-US" sz="1000" dirty="0"/>
          </a:p>
        </p:txBody>
      </p:sp>
      <p:sp>
        <p:nvSpPr>
          <p:cNvPr id="35" name="Text 33"/>
          <p:cNvSpPr/>
          <p:nvPr/>
        </p:nvSpPr>
        <p:spPr>
          <a:xfrm>
            <a:off x="11887101" y="6466086"/>
            <a:ext cx="304594"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06 / TECHNICAL FOUNDATIONS</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TOPICS &amp; CONCEPTS COVERED</a:t>
            </a:r>
            <a:endParaRPr lang="en-US" sz="4800" dirty="0"/>
          </a:p>
        </p:txBody>
      </p:sp>
      <p:sp>
        <p:nvSpPr>
          <p:cNvPr id="4" name="Shape 2"/>
          <p:cNvSpPr/>
          <p:nvPr/>
        </p:nvSpPr>
        <p:spPr>
          <a:xfrm>
            <a:off x="609585" y="1762026"/>
            <a:ext cx="3620798" cy="19050"/>
          </a:xfrm>
          <a:prstGeom prst="roundRect">
            <a:avLst>
              <a:gd name="adj" fmla="val 49999"/>
            </a:avLst>
          </a:prstGeom>
          <a:solidFill>
            <a:srgbClr val="2F6A73"/>
          </a:solidFill>
          <a:ln/>
        </p:spPr>
      </p:sp>
      <p:sp>
        <p:nvSpPr>
          <p:cNvPr id="5" name="Shape 3"/>
          <p:cNvSpPr/>
          <p:nvPr/>
        </p:nvSpPr>
        <p:spPr>
          <a:xfrm>
            <a:off x="609585" y="1984276"/>
            <a:ext cx="5333867" cy="1972072"/>
          </a:xfrm>
          <a:prstGeom prst="roundRect">
            <a:avLst>
              <a:gd name="adj" fmla="val 580"/>
            </a:avLst>
          </a:prstGeom>
          <a:noFill/>
          <a:ln w="19050">
            <a:solidFill>
              <a:srgbClr val="23585F"/>
            </a:solidFill>
            <a:prstDash val="solid"/>
          </a:ln>
        </p:spPr>
      </p:sp>
      <p:pic>
        <p:nvPicPr>
          <p:cNvPr id="6" name="Image 0" descr="preencoded.png"/>
          <p:cNvPicPr>
            <a:picLocks noChangeAspect="1"/>
          </p:cNvPicPr>
          <p:nvPr/>
        </p:nvPicPr>
        <p:blipFill>
          <a:blip r:embed="rId3"/>
          <a:stretch>
            <a:fillRect/>
          </a:stretch>
        </p:blipFill>
        <p:spPr>
          <a:xfrm>
            <a:off x="857229" y="2231926"/>
            <a:ext cx="238119" cy="219075"/>
          </a:xfrm>
          <a:prstGeom prst="rect">
            <a:avLst/>
          </a:prstGeom>
        </p:spPr>
      </p:pic>
      <p:sp>
        <p:nvSpPr>
          <p:cNvPr id="7" name="Text 4"/>
          <p:cNvSpPr/>
          <p:nvPr/>
        </p:nvSpPr>
        <p:spPr>
          <a:xfrm>
            <a:off x="857229" y="2571651"/>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Arrays &amp; Data Storage</a:t>
            </a:r>
            <a:endParaRPr lang="en-US" sz="2000" dirty="0"/>
          </a:p>
        </p:txBody>
      </p:sp>
      <p:sp>
        <p:nvSpPr>
          <p:cNvPr id="8" name="Text 5"/>
          <p:cNvSpPr/>
          <p:nvPr/>
        </p:nvSpPr>
        <p:spPr>
          <a:xfrm>
            <a:off x="857229" y="2966621"/>
            <a:ext cx="4838579"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Utilized 1D arrays (`double[] grades`, `int[] attended`) to store variable course marks and attendance values dynamically.</a:t>
            </a:r>
            <a:endParaRPr lang="en-US" sz="1400" dirty="0"/>
          </a:p>
        </p:txBody>
      </p:sp>
      <p:sp>
        <p:nvSpPr>
          <p:cNvPr id="9" name="Shape 6"/>
          <p:cNvSpPr/>
          <p:nvPr/>
        </p:nvSpPr>
        <p:spPr>
          <a:xfrm>
            <a:off x="6248244" y="1984276"/>
            <a:ext cx="5333867" cy="1972072"/>
          </a:xfrm>
          <a:prstGeom prst="roundRect">
            <a:avLst>
              <a:gd name="adj" fmla="val 580"/>
            </a:avLst>
          </a:prstGeom>
          <a:noFill/>
          <a:ln w="19050">
            <a:solidFill>
              <a:srgbClr val="23585F"/>
            </a:solidFill>
            <a:prstDash val="solid"/>
          </a:ln>
        </p:spPr>
      </p:sp>
      <p:pic>
        <p:nvPicPr>
          <p:cNvPr id="10" name="Image 1" descr="preencoded.png"/>
          <p:cNvPicPr>
            <a:picLocks noChangeAspect="1"/>
          </p:cNvPicPr>
          <p:nvPr/>
        </p:nvPicPr>
        <p:blipFill>
          <a:blip r:embed="rId4"/>
          <a:stretch>
            <a:fillRect/>
          </a:stretch>
        </p:blipFill>
        <p:spPr>
          <a:xfrm>
            <a:off x="6495887" y="2231926"/>
            <a:ext cx="190495" cy="219075"/>
          </a:xfrm>
          <a:prstGeom prst="rect">
            <a:avLst/>
          </a:prstGeom>
        </p:spPr>
      </p:pic>
      <p:sp>
        <p:nvSpPr>
          <p:cNvPr id="11" name="Text 7"/>
          <p:cNvSpPr/>
          <p:nvPr/>
        </p:nvSpPr>
        <p:spPr>
          <a:xfrm>
            <a:off x="6495887" y="2571651"/>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Control Structures &amp; Loops</a:t>
            </a:r>
            <a:endParaRPr lang="en-US" sz="2000" dirty="0"/>
          </a:p>
        </p:txBody>
      </p:sp>
      <p:sp>
        <p:nvSpPr>
          <p:cNvPr id="12" name="Text 8"/>
          <p:cNvSpPr/>
          <p:nvPr/>
        </p:nvSpPr>
        <p:spPr>
          <a:xfrm>
            <a:off x="6495887" y="2966621"/>
            <a:ext cx="4838579" cy="497681"/>
          </a:xfrm>
          <a:prstGeom prst="rect">
            <a:avLst/>
          </a:prstGeom>
          <a:noFill/>
          <a:ln/>
        </p:spPr>
        <p:txBody>
          <a:bodyPr wrap="square" lIns="0" tIns="0" rIns="0" bIns="0" rtlCol="0" anchor="t">
            <a:normAutofit fontScale="92500"/>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Implemented `for` loops for data iteration and multi-branching `if-else` / `switch` statements for grade mapping.</a:t>
            </a:r>
            <a:endParaRPr lang="en-US" sz="1400" dirty="0"/>
          </a:p>
        </p:txBody>
      </p:sp>
      <p:sp>
        <p:nvSpPr>
          <p:cNvPr id="13" name="Shape 9"/>
          <p:cNvSpPr/>
          <p:nvPr/>
        </p:nvSpPr>
        <p:spPr>
          <a:xfrm>
            <a:off x="609585" y="4261148"/>
            <a:ext cx="5333867" cy="1723231"/>
          </a:xfrm>
          <a:prstGeom prst="roundRect">
            <a:avLst>
              <a:gd name="adj" fmla="val 663"/>
            </a:avLst>
          </a:prstGeom>
          <a:noFill/>
          <a:ln w="19050">
            <a:solidFill>
              <a:srgbClr val="23585F"/>
            </a:solidFill>
            <a:prstDash val="solid"/>
          </a:ln>
        </p:spPr>
      </p:sp>
      <p:pic>
        <p:nvPicPr>
          <p:cNvPr id="14" name="Image 2" descr="preencoded.png"/>
          <p:cNvPicPr>
            <a:picLocks noChangeAspect="1"/>
          </p:cNvPicPr>
          <p:nvPr/>
        </p:nvPicPr>
        <p:blipFill>
          <a:blip r:embed="rId5"/>
          <a:stretch>
            <a:fillRect/>
          </a:stretch>
        </p:blipFill>
        <p:spPr>
          <a:xfrm>
            <a:off x="857229" y="4508798"/>
            <a:ext cx="276218" cy="219075"/>
          </a:xfrm>
          <a:prstGeom prst="rect">
            <a:avLst/>
          </a:prstGeom>
        </p:spPr>
      </p:pic>
      <p:sp>
        <p:nvSpPr>
          <p:cNvPr id="15" name="Text 10"/>
          <p:cNvSpPr/>
          <p:nvPr/>
        </p:nvSpPr>
        <p:spPr>
          <a:xfrm>
            <a:off x="857229" y="4848523"/>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Methods &amp; Modular Design</a:t>
            </a:r>
            <a:endParaRPr lang="en-US" sz="2000" dirty="0"/>
          </a:p>
        </p:txBody>
      </p:sp>
      <p:sp>
        <p:nvSpPr>
          <p:cNvPr id="16" name="Text 11"/>
          <p:cNvSpPr/>
          <p:nvPr/>
        </p:nvSpPr>
        <p:spPr>
          <a:xfrm>
            <a:off x="857229" y="5243493"/>
            <a:ext cx="4838579" cy="497681"/>
          </a:xfrm>
          <a:prstGeom prst="rect">
            <a:avLst/>
          </a:prstGeom>
          <a:noFill/>
          <a:ln/>
        </p:spPr>
        <p:txBody>
          <a:bodyPr wrap="square" lIns="0" tIns="0" rIns="0" bIns="0" rtlCol="0" anchor="t">
            <a:normAutofit fontScale="92500"/>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Structured calculations into distinct functions for GPA computation, percentage derivation, and status formatting.</a:t>
            </a:r>
            <a:endParaRPr lang="en-US" sz="1400" dirty="0"/>
          </a:p>
        </p:txBody>
      </p:sp>
      <p:sp>
        <p:nvSpPr>
          <p:cNvPr id="17" name="Shape 12"/>
          <p:cNvSpPr/>
          <p:nvPr/>
        </p:nvSpPr>
        <p:spPr>
          <a:xfrm>
            <a:off x="6248244" y="4261148"/>
            <a:ext cx="5333867" cy="1723231"/>
          </a:xfrm>
          <a:prstGeom prst="roundRect">
            <a:avLst>
              <a:gd name="adj" fmla="val 663"/>
            </a:avLst>
          </a:prstGeom>
          <a:noFill/>
          <a:ln w="19050">
            <a:solidFill>
              <a:srgbClr val="23585F"/>
            </a:solidFill>
            <a:prstDash val="solid"/>
          </a:ln>
        </p:spPr>
      </p:sp>
      <p:pic>
        <p:nvPicPr>
          <p:cNvPr id="18" name="Image 3" descr="preencoded.png"/>
          <p:cNvPicPr>
            <a:picLocks noChangeAspect="1"/>
          </p:cNvPicPr>
          <p:nvPr/>
        </p:nvPicPr>
        <p:blipFill>
          <a:blip r:embed="rId6"/>
          <a:stretch>
            <a:fillRect/>
          </a:stretch>
        </p:blipFill>
        <p:spPr>
          <a:xfrm>
            <a:off x="6495887" y="4508798"/>
            <a:ext cx="238119" cy="219075"/>
          </a:xfrm>
          <a:prstGeom prst="rect">
            <a:avLst/>
          </a:prstGeom>
        </p:spPr>
      </p:pic>
      <p:sp>
        <p:nvSpPr>
          <p:cNvPr id="19" name="Text 13"/>
          <p:cNvSpPr/>
          <p:nvPr/>
        </p:nvSpPr>
        <p:spPr>
          <a:xfrm>
            <a:off x="6495887" y="4848523"/>
            <a:ext cx="4838579"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Scanner &amp; I/O Handling</a:t>
            </a:r>
            <a:endParaRPr lang="en-US" sz="2000" dirty="0"/>
          </a:p>
        </p:txBody>
      </p:sp>
      <p:sp>
        <p:nvSpPr>
          <p:cNvPr id="20" name="Text 14"/>
          <p:cNvSpPr/>
          <p:nvPr/>
        </p:nvSpPr>
        <p:spPr>
          <a:xfrm>
            <a:off x="6495887" y="5243493"/>
            <a:ext cx="4838579"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Used `java.util.Scanner` for interactive terminal data entry, capturing student metadata and subject scores.</a:t>
            </a:r>
            <a:endParaRPr lang="en-US" sz="1400" dirty="0"/>
          </a:p>
        </p:txBody>
      </p:sp>
      <p:sp>
        <p:nvSpPr>
          <p:cNvPr id="21" name="Text 15"/>
          <p:cNvSpPr/>
          <p:nvPr/>
        </p:nvSpPr>
        <p:spPr>
          <a:xfrm>
            <a:off x="11963200" y="6466086"/>
            <a:ext cx="22849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CORE JAVA / TOPIC MAP</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Core Java Topics Used</a:t>
            </a:r>
            <a:endParaRPr lang="en-US" sz="4800" dirty="0"/>
          </a:p>
        </p:txBody>
      </p:sp>
      <p:sp>
        <p:nvSpPr>
          <p:cNvPr id="4" name="Shape 2"/>
          <p:cNvSpPr/>
          <p:nvPr/>
        </p:nvSpPr>
        <p:spPr>
          <a:xfrm>
            <a:off x="609585" y="1762026"/>
            <a:ext cx="10972526" cy="19050"/>
          </a:xfrm>
          <a:prstGeom prst="roundRect">
            <a:avLst>
              <a:gd name="adj" fmla="val 49999"/>
            </a:avLst>
          </a:prstGeom>
          <a:solidFill>
            <a:srgbClr val="A9DDF0"/>
          </a:solidFill>
          <a:ln/>
        </p:spPr>
      </p:sp>
      <p:sp>
        <p:nvSpPr>
          <p:cNvPr id="5" name="Shape 3"/>
          <p:cNvSpPr/>
          <p:nvPr/>
        </p:nvSpPr>
        <p:spPr>
          <a:xfrm>
            <a:off x="609585" y="1984276"/>
            <a:ext cx="5410065" cy="905371"/>
          </a:xfrm>
          <a:prstGeom prst="roundRect">
            <a:avLst>
              <a:gd name="adj" fmla="val 1262"/>
            </a:avLst>
          </a:prstGeom>
          <a:noFill/>
          <a:ln w="19050">
            <a:solidFill>
              <a:srgbClr val="23585F"/>
            </a:solidFill>
            <a:prstDash val="solid"/>
          </a:ln>
        </p:spPr>
      </p:sp>
      <p:sp>
        <p:nvSpPr>
          <p:cNvPr id="6" name="Text 4"/>
          <p:cNvSpPr/>
          <p:nvPr/>
        </p:nvSpPr>
        <p:spPr>
          <a:xfrm>
            <a:off x="755631" y="2147153"/>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Scanner &amp; I/O</a:t>
            </a:r>
            <a:endParaRPr lang="en-US" sz="1700" dirty="0"/>
          </a:p>
        </p:txBody>
      </p:sp>
      <p:sp>
        <p:nvSpPr>
          <p:cNvPr id="7" name="Text 5"/>
          <p:cNvSpPr/>
          <p:nvPr/>
        </p:nvSpPr>
        <p:spPr>
          <a:xfrm>
            <a:off x="755631" y="2499201"/>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nextLine, nextInt, nextDouble, printf</a:t>
            </a:r>
            <a:endParaRPr lang="en-US" sz="1400" dirty="0"/>
          </a:p>
        </p:txBody>
      </p:sp>
      <p:sp>
        <p:nvSpPr>
          <p:cNvPr id="8" name="Shape 6"/>
          <p:cNvSpPr/>
          <p:nvPr/>
        </p:nvSpPr>
        <p:spPr>
          <a:xfrm>
            <a:off x="6172046" y="1984276"/>
            <a:ext cx="5410065" cy="905371"/>
          </a:xfrm>
          <a:prstGeom prst="roundRect">
            <a:avLst>
              <a:gd name="adj" fmla="val 1262"/>
            </a:avLst>
          </a:prstGeom>
          <a:noFill/>
          <a:ln w="19050">
            <a:solidFill>
              <a:srgbClr val="23585F"/>
            </a:solidFill>
            <a:prstDash val="solid"/>
          </a:ln>
        </p:spPr>
      </p:sp>
      <p:sp>
        <p:nvSpPr>
          <p:cNvPr id="9" name="Text 7"/>
          <p:cNvSpPr/>
          <p:nvPr/>
        </p:nvSpPr>
        <p:spPr>
          <a:xfrm>
            <a:off x="6318092" y="2147153"/>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Arrays</a:t>
            </a:r>
            <a:endParaRPr lang="en-US" sz="1700" dirty="0"/>
          </a:p>
        </p:txBody>
      </p:sp>
      <p:sp>
        <p:nvSpPr>
          <p:cNvPr id="10" name="Text 8"/>
          <p:cNvSpPr/>
          <p:nvPr/>
        </p:nvSpPr>
        <p:spPr>
          <a:xfrm>
            <a:off x="6318092" y="2499201"/>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grades[], classesAttended[], totalClasses[]</a:t>
            </a:r>
            <a:endParaRPr lang="en-US" sz="1400" dirty="0"/>
          </a:p>
        </p:txBody>
      </p:sp>
      <p:sp>
        <p:nvSpPr>
          <p:cNvPr id="11" name="Shape 9"/>
          <p:cNvSpPr/>
          <p:nvPr/>
        </p:nvSpPr>
        <p:spPr>
          <a:xfrm>
            <a:off x="609585" y="3042047"/>
            <a:ext cx="5410065" cy="905371"/>
          </a:xfrm>
          <a:prstGeom prst="roundRect">
            <a:avLst>
              <a:gd name="adj" fmla="val 1262"/>
            </a:avLst>
          </a:prstGeom>
          <a:noFill/>
          <a:ln w="19050">
            <a:solidFill>
              <a:srgbClr val="23585F"/>
            </a:solidFill>
            <a:prstDash val="solid"/>
          </a:ln>
        </p:spPr>
      </p:sp>
      <p:sp>
        <p:nvSpPr>
          <p:cNvPr id="12" name="Text 10"/>
          <p:cNvSpPr/>
          <p:nvPr/>
        </p:nvSpPr>
        <p:spPr>
          <a:xfrm>
            <a:off x="755631" y="3204924"/>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Loops</a:t>
            </a:r>
            <a:endParaRPr lang="en-US" sz="1700" dirty="0"/>
          </a:p>
        </p:txBody>
      </p:sp>
      <p:sp>
        <p:nvSpPr>
          <p:cNvPr id="13" name="Text 11"/>
          <p:cNvSpPr/>
          <p:nvPr/>
        </p:nvSpPr>
        <p:spPr>
          <a:xfrm>
            <a:off x="755631" y="3556972"/>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for loops for input and totals</a:t>
            </a:r>
            <a:endParaRPr lang="en-US" sz="1400" dirty="0"/>
          </a:p>
        </p:txBody>
      </p:sp>
      <p:sp>
        <p:nvSpPr>
          <p:cNvPr id="14" name="Shape 12"/>
          <p:cNvSpPr/>
          <p:nvPr/>
        </p:nvSpPr>
        <p:spPr>
          <a:xfrm>
            <a:off x="6172046" y="3042047"/>
            <a:ext cx="5410065" cy="905371"/>
          </a:xfrm>
          <a:prstGeom prst="roundRect">
            <a:avLst>
              <a:gd name="adj" fmla="val 1262"/>
            </a:avLst>
          </a:prstGeom>
          <a:noFill/>
          <a:ln w="19050">
            <a:solidFill>
              <a:srgbClr val="23585F"/>
            </a:solidFill>
            <a:prstDash val="solid"/>
          </a:ln>
        </p:spPr>
      </p:sp>
      <p:sp>
        <p:nvSpPr>
          <p:cNvPr id="15" name="Text 13"/>
          <p:cNvSpPr/>
          <p:nvPr/>
        </p:nvSpPr>
        <p:spPr>
          <a:xfrm>
            <a:off x="6318092" y="3204924"/>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Operators</a:t>
            </a:r>
            <a:endParaRPr lang="en-US" sz="1700" dirty="0"/>
          </a:p>
        </p:txBody>
      </p:sp>
      <p:sp>
        <p:nvSpPr>
          <p:cNvPr id="16" name="Text 14"/>
          <p:cNvSpPr/>
          <p:nvPr/>
        </p:nvSpPr>
        <p:spPr>
          <a:xfrm>
            <a:off x="6318092" y="3556972"/>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 /, *, +=, &gt;=, &amp;&amp;</a:t>
            </a:r>
            <a:endParaRPr lang="en-US" sz="1400" dirty="0"/>
          </a:p>
        </p:txBody>
      </p:sp>
      <p:sp>
        <p:nvSpPr>
          <p:cNvPr id="17" name="Shape 15"/>
          <p:cNvSpPr/>
          <p:nvPr/>
        </p:nvSpPr>
        <p:spPr>
          <a:xfrm>
            <a:off x="609585" y="4099818"/>
            <a:ext cx="5410065" cy="905371"/>
          </a:xfrm>
          <a:prstGeom prst="roundRect">
            <a:avLst>
              <a:gd name="adj" fmla="val 1262"/>
            </a:avLst>
          </a:prstGeom>
          <a:noFill/>
          <a:ln w="19050">
            <a:solidFill>
              <a:srgbClr val="23585F"/>
            </a:solidFill>
            <a:prstDash val="solid"/>
          </a:ln>
        </p:spPr>
      </p:sp>
      <p:sp>
        <p:nvSpPr>
          <p:cNvPr id="18" name="Text 16"/>
          <p:cNvSpPr/>
          <p:nvPr/>
        </p:nvSpPr>
        <p:spPr>
          <a:xfrm>
            <a:off x="755631" y="4262696"/>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Type casting</a:t>
            </a:r>
            <a:endParaRPr lang="en-US" sz="1700" dirty="0"/>
          </a:p>
        </p:txBody>
      </p:sp>
      <p:sp>
        <p:nvSpPr>
          <p:cNvPr id="19" name="Text 17"/>
          <p:cNvSpPr/>
          <p:nvPr/>
        </p:nvSpPr>
        <p:spPr>
          <a:xfrm>
            <a:off x="755631" y="4614744"/>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(double) sumAttended</a:t>
            </a:r>
            <a:endParaRPr lang="en-US" sz="1400" dirty="0"/>
          </a:p>
        </p:txBody>
      </p:sp>
      <p:sp>
        <p:nvSpPr>
          <p:cNvPr id="20" name="Shape 18"/>
          <p:cNvSpPr/>
          <p:nvPr/>
        </p:nvSpPr>
        <p:spPr>
          <a:xfrm>
            <a:off x="6172046" y="4099818"/>
            <a:ext cx="5410065" cy="905371"/>
          </a:xfrm>
          <a:prstGeom prst="roundRect">
            <a:avLst>
              <a:gd name="adj" fmla="val 1262"/>
            </a:avLst>
          </a:prstGeom>
          <a:noFill/>
          <a:ln w="19050">
            <a:solidFill>
              <a:srgbClr val="23585F"/>
            </a:solidFill>
            <a:prstDash val="solid"/>
          </a:ln>
        </p:spPr>
      </p:sp>
      <p:sp>
        <p:nvSpPr>
          <p:cNvPr id="21" name="Text 19"/>
          <p:cNvSpPr/>
          <p:nvPr/>
        </p:nvSpPr>
        <p:spPr>
          <a:xfrm>
            <a:off x="6318092" y="4262696"/>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if-else</a:t>
            </a:r>
            <a:endParaRPr lang="en-US" sz="1700" dirty="0"/>
          </a:p>
        </p:txBody>
      </p:sp>
      <p:sp>
        <p:nvSpPr>
          <p:cNvPr id="22" name="Text 20"/>
          <p:cNvSpPr/>
          <p:nvPr/>
        </p:nvSpPr>
        <p:spPr>
          <a:xfrm>
            <a:off x="6318092" y="4614744"/>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grade category selection</a:t>
            </a:r>
            <a:endParaRPr lang="en-US" sz="1400" dirty="0"/>
          </a:p>
        </p:txBody>
      </p:sp>
      <p:sp>
        <p:nvSpPr>
          <p:cNvPr id="23" name="Shape 21"/>
          <p:cNvSpPr/>
          <p:nvPr/>
        </p:nvSpPr>
        <p:spPr>
          <a:xfrm>
            <a:off x="609585" y="5157589"/>
            <a:ext cx="5410065" cy="905371"/>
          </a:xfrm>
          <a:prstGeom prst="roundRect">
            <a:avLst>
              <a:gd name="adj" fmla="val 1262"/>
            </a:avLst>
          </a:prstGeom>
          <a:noFill/>
          <a:ln w="19050">
            <a:solidFill>
              <a:srgbClr val="23585F"/>
            </a:solidFill>
            <a:prstDash val="solid"/>
          </a:ln>
        </p:spPr>
      </p:sp>
      <p:sp>
        <p:nvSpPr>
          <p:cNvPr id="24" name="Text 22"/>
          <p:cNvSpPr/>
          <p:nvPr/>
        </p:nvSpPr>
        <p:spPr>
          <a:xfrm>
            <a:off x="755631" y="5320467"/>
            <a:ext cx="5117972" cy="237430"/>
          </a:xfrm>
          <a:prstGeom prst="rect">
            <a:avLst/>
          </a:prstGeom>
          <a:noFill/>
          <a:ln/>
        </p:spPr>
        <p:txBody>
          <a:bodyPr wrap="none" lIns="0" tIns="0" rIns="0" bIns="0" rtlCol="0" anchor="t"/>
          <a:lstStyle/>
          <a:p>
            <a:pPr marL="0" indent="0" algn="l">
              <a:lnSpc>
                <a:spcPct val="92000"/>
              </a:lnSpc>
              <a:buNone/>
            </a:pPr>
            <a:r>
              <a:rPr lang="en-US" sz="1700" dirty="0">
                <a:solidFill>
                  <a:srgbClr val="A9DDF0"/>
                </a:solidFill>
                <a:latin typeface="Saira Semi Condensed" pitchFamily="34" charset="0"/>
                <a:ea typeface="Saira Semi Condensed" pitchFamily="34" charset="-122"/>
                <a:cs typeface="Saira Semi Condensed" pitchFamily="34" charset="-120"/>
              </a:rPr>
              <a:t>switch</a:t>
            </a:r>
            <a:endParaRPr lang="en-US" sz="1700" dirty="0"/>
          </a:p>
        </p:txBody>
      </p:sp>
      <p:sp>
        <p:nvSpPr>
          <p:cNvPr id="25" name="Text 23"/>
          <p:cNvSpPr/>
          <p:nvPr/>
        </p:nvSpPr>
        <p:spPr>
          <a:xfrm>
            <a:off x="755631" y="5672515"/>
            <a:ext cx="5264018"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category to letter grade</a:t>
            </a:r>
            <a:endParaRPr lang="en-US" sz="1400" dirty="0"/>
          </a:p>
        </p:txBody>
      </p:sp>
      <p:sp>
        <p:nvSpPr>
          <p:cNvPr id="26" name="Shape 24"/>
          <p:cNvSpPr/>
          <p:nvPr/>
        </p:nvSpPr>
        <p:spPr>
          <a:xfrm>
            <a:off x="6172046" y="5157589"/>
            <a:ext cx="5410065" cy="905371"/>
          </a:xfrm>
          <a:prstGeom prst="roundRect">
            <a:avLst>
              <a:gd name="adj" fmla="val 1262"/>
            </a:avLst>
          </a:prstGeom>
          <a:solidFill>
            <a:srgbClr val="7C3AED"/>
          </a:solidFill>
          <a:ln/>
        </p:spPr>
      </p:sp>
      <p:sp>
        <p:nvSpPr>
          <p:cNvPr id="27" name="Text 25"/>
          <p:cNvSpPr/>
          <p:nvPr/>
        </p:nvSpPr>
        <p:spPr>
          <a:xfrm>
            <a:off x="6299042" y="5301417"/>
            <a:ext cx="5156071"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Saira Semi Condensed" pitchFamily="34" charset="0"/>
                <a:ea typeface="Saira Semi Condensed" pitchFamily="34" charset="-122"/>
                <a:cs typeface="Saira Semi Condensed" pitchFamily="34" charset="-120"/>
              </a:rPr>
              <a:t>Ternary ?:</a:t>
            </a:r>
            <a:endParaRPr lang="en-US" sz="1700" dirty="0"/>
          </a:p>
        </p:txBody>
      </p:sp>
      <p:sp>
        <p:nvSpPr>
          <p:cNvPr id="28" name="Text 26"/>
          <p:cNvSpPr/>
          <p:nvPr/>
        </p:nvSpPr>
        <p:spPr>
          <a:xfrm>
            <a:off x="6299042" y="5653465"/>
            <a:ext cx="5283068" cy="248841"/>
          </a:xfrm>
          <a:prstGeom prst="rect">
            <a:avLst/>
          </a:prstGeom>
          <a:noFill/>
          <a:ln/>
        </p:spPr>
        <p:txBody>
          <a:bodyPr wrap="none" lIns="0" tIns="0" rIns="0" bIns="0" rtlCol="0" anchor="t"/>
          <a:lstStyle/>
          <a:p>
            <a:pPr marL="0" indent="0" algn="l">
              <a:lnSpc>
                <a:spcPct val="117000"/>
              </a:lnSpc>
              <a:buNone/>
            </a:pPr>
            <a:r>
              <a:rPr lang="en-US" sz="1400" dirty="0">
                <a:solidFill>
                  <a:srgbClr val="FFFFFF"/>
                </a:solidFill>
                <a:latin typeface="Public Sans" pitchFamily="34" charset="0"/>
                <a:ea typeface="Public Sans" pitchFamily="34" charset="-122"/>
                <a:cs typeface="Public Sans" pitchFamily="34" charset="-120"/>
              </a:rPr>
              <a:t>eligibility status message</a:t>
            </a:r>
            <a:endParaRPr lang="en-US" sz="1400" dirty="0"/>
          </a:p>
        </p:txBody>
      </p:sp>
      <p:sp>
        <p:nvSpPr>
          <p:cNvPr id="29" name="Text 27"/>
          <p:cNvSpPr/>
          <p:nvPr/>
        </p:nvSpPr>
        <p:spPr>
          <a:xfrm>
            <a:off x="11939686" y="6466086"/>
            <a:ext cx="25200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1 / IMMUTABLE RULES</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 1: final Keyword (final variable)</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4556706" cy="4294882"/>
          </a:xfrm>
          <a:prstGeom prst="roundRect">
            <a:avLst>
              <a:gd name="adj" fmla="val 266"/>
            </a:avLst>
          </a:prstGeom>
          <a:noFill/>
          <a:ln w="19050">
            <a:solidFill>
              <a:srgbClr val="23585F"/>
            </a:solidFill>
            <a:prstDash val="solid"/>
          </a:ln>
        </p:spPr>
      </p:sp>
      <p:sp>
        <p:nvSpPr>
          <p:cNvPr id="6" name="Text 4"/>
          <p:cNvSpPr/>
          <p:nvPr/>
        </p:nvSpPr>
        <p:spPr>
          <a:xfrm>
            <a:off x="882628" y="2257326"/>
            <a:ext cx="4010619" cy="16263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final variable: value cannot be changed after it is set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Used for fixed rules of the university</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Changing it later gives a compile-time error</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Keeps 75.0 and 60.0 in one place, no magic numbers</a:t>
            </a:r>
            <a:endParaRPr lang="en-US" sz="1400" dirty="0"/>
          </a:p>
        </p:txBody>
      </p:sp>
      <p:sp>
        <p:nvSpPr>
          <p:cNvPr id="7" name="Shape 5"/>
          <p:cNvSpPr/>
          <p:nvPr/>
        </p:nvSpPr>
        <p:spPr>
          <a:xfrm>
            <a:off x="5623380" y="1984276"/>
            <a:ext cx="5958731" cy="4294882"/>
          </a:xfrm>
          <a:prstGeom prst="rect">
            <a:avLst/>
          </a:prstGeom>
          <a:solidFill>
            <a:srgbClr val="0A3F46"/>
          </a:solidFill>
          <a:ln/>
        </p:spPr>
      </p:sp>
      <p:sp>
        <p:nvSpPr>
          <p:cNvPr id="8" name="Text 6"/>
          <p:cNvSpPr/>
          <p:nvPr/>
        </p:nvSpPr>
        <p:spPr>
          <a:xfrm>
            <a:off x="5877373" y="2239228"/>
            <a:ext cx="5704737"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CONSTANTS IN THE ELIGIBILITY CHECK</a:t>
            </a:r>
            <a:endParaRPr lang="en-US" sz="1050" dirty="0"/>
          </a:p>
        </p:txBody>
      </p:sp>
      <p:sp>
        <p:nvSpPr>
          <p:cNvPr id="9" name="Shape 7"/>
          <p:cNvSpPr/>
          <p:nvPr/>
        </p:nvSpPr>
        <p:spPr>
          <a:xfrm>
            <a:off x="5877373" y="2624931"/>
            <a:ext cx="5450743" cy="3200202"/>
          </a:xfrm>
          <a:prstGeom prst="roundRect">
            <a:avLst>
              <a:gd name="adj" fmla="val 357"/>
            </a:avLst>
          </a:prstGeom>
          <a:solidFill>
            <a:srgbClr val="13272B"/>
          </a:solidFill>
          <a:ln/>
        </p:spPr>
      </p:sp>
      <p:sp>
        <p:nvSpPr>
          <p:cNvPr id="10" name="Text 8"/>
          <p:cNvSpPr/>
          <p:nvPr/>
        </p:nvSpPr>
        <p:spPr>
          <a:xfrm>
            <a:off x="6090688" y="2803049"/>
            <a:ext cx="5024113" cy="284460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String UNIVERSITY_NAME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"KLU University, Hyd";</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double MIN_ATTENDANCE = 75.0;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static final double PASS_PERCENTAGE = 60.0;</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used in eligibility check</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meetsAttendance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attendancePercentage &gt;= MIN_ATTENDANCE;</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passesGrades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averageGrade &gt;= PASS_PERCENTAGE;</a:t>
            </a:r>
            <a:endParaRPr lang="en-US" sz="1400" dirty="0"/>
          </a:p>
        </p:txBody>
      </p:sp>
      <p:sp>
        <p:nvSpPr>
          <p:cNvPr id="11" name="Text 9"/>
          <p:cNvSpPr/>
          <p:nvPr/>
        </p:nvSpPr>
        <p:spPr>
          <a:xfrm>
            <a:off x="11935419" y="6466086"/>
            <a:ext cx="256276"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2 / COLLECTION FRAMEWORK</a:t>
            </a:r>
            <a:endParaRPr lang="en-US" sz="1050" dirty="0"/>
          </a:p>
        </p:txBody>
      </p:sp>
      <p:sp>
        <p:nvSpPr>
          <p:cNvPr id="3" name="Text 1"/>
          <p:cNvSpPr/>
          <p:nvPr/>
        </p:nvSpPr>
        <p:spPr>
          <a:xfrm>
            <a:off x="609585" y="900688"/>
            <a:ext cx="10972526" cy="502841"/>
          </a:xfrm>
          <a:prstGeom prst="rect">
            <a:avLst/>
          </a:prstGeom>
          <a:noFill/>
          <a:ln/>
        </p:spPr>
        <p:txBody>
          <a:bodyPr wrap="none" lIns="0" tIns="0" rIns="0" bIns="0" rtlCol="0" anchor="t"/>
          <a:lstStyle/>
          <a:p>
            <a:pPr marL="0" indent="0" algn="l">
              <a:lnSpc>
                <a:spcPct val="92000"/>
              </a:lnSpc>
              <a:buNone/>
            </a:pPr>
            <a:r>
              <a:rPr lang="en-US" sz="3600" dirty="0">
                <a:solidFill>
                  <a:srgbClr val="EAF6FA"/>
                </a:solidFill>
                <a:latin typeface="Saira Semi Condensed" pitchFamily="34" charset="0"/>
                <a:ea typeface="Saira Semi Condensed" pitchFamily="34" charset="-122"/>
                <a:cs typeface="Saira Semi Condensed" pitchFamily="34" charset="-120"/>
              </a:rPr>
              <a:t>Topic 2: Collection Framework (ArrayList + Iterator)</a:t>
            </a:r>
            <a:endParaRPr lang="en-US" sz="3600" dirty="0"/>
          </a:p>
        </p:txBody>
      </p:sp>
      <p:sp>
        <p:nvSpPr>
          <p:cNvPr id="4" name="Shape 2"/>
          <p:cNvSpPr/>
          <p:nvPr/>
        </p:nvSpPr>
        <p:spPr>
          <a:xfrm>
            <a:off x="609585" y="1594346"/>
            <a:ext cx="10972526" cy="19050"/>
          </a:xfrm>
          <a:prstGeom prst="roundRect">
            <a:avLst>
              <a:gd name="adj" fmla="val 49999"/>
            </a:avLst>
          </a:prstGeom>
          <a:solidFill>
            <a:srgbClr val="2F6A73"/>
          </a:solidFill>
          <a:ln/>
        </p:spPr>
      </p:sp>
      <p:sp>
        <p:nvSpPr>
          <p:cNvPr id="5" name="Shape 3"/>
          <p:cNvSpPr/>
          <p:nvPr/>
        </p:nvSpPr>
        <p:spPr>
          <a:xfrm>
            <a:off x="609585" y="1816596"/>
            <a:ext cx="4556706" cy="3990082"/>
          </a:xfrm>
          <a:prstGeom prst="roundRect">
            <a:avLst>
              <a:gd name="adj" fmla="val 286"/>
            </a:avLst>
          </a:prstGeom>
          <a:noFill/>
          <a:ln w="19050">
            <a:solidFill>
              <a:srgbClr val="23585F"/>
            </a:solidFill>
            <a:prstDash val="solid"/>
          </a:ln>
        </p:spPr>
      </p:sp>
      <p:sp>
        <p:nvSpPr>
          <p:cNvPr id="6" name="Text 4"/>
          <p:cNvSpPr/>
          <p:nvPr/>
        </p:nvSpPr>
        <p:spPr>
          <a:xfrm>
            <a:off x="730232" y="1937246"/>
            <a:ext cx="4315412" cy="16263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ArrayList: dynamic array that stores subject names</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Grows automatically, unlike a fixed array</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Iterator: moves through elements with hasNext() and next()</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Used to read each subject name for the report</a:t>
            </a:r>
            <a:endParaRPr lang="en-US" sz="1400" dirty="0"/>
          </a:p>
        </p:txBody>
      </p:sp>
      <p:sp>
        <p:nvSpPr>
          <p:cNvPr id="7" name="Shape 5"/>
          <p:cNvSpPr/>
          <p:nvPr/>
        </p:nvSpPr>
        <p:spPr>
          <a:xfrm>
            <a:off x="5623380" y="1816596"/>
            <a:ext cx="5958731" cy="3990082"/>
          </a:xfrm>
          <a:prstGeom prst="rect">
            <a:avLst/>
          </a:prstGeom>
          <a:solidFill>
            <a:srgbClr val="0A3F46"/>
          </a:solidFill>
          <a:ln/>
        </p:spPr>
      </p:sp>
      <p:sp>
        <p:nvSpPr>
          <p:cNvPr id="8" name="Text 6"/>
          <p:cNvSpPr/>
          <p:nvPr/>
        </p:nvSpPr>
        <p:spPr>
          <a:xfrm>
            <a:off x="5724977" y="1919149"/>
            <a:ext cx="5857133"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READING SUBJECT NAMES</a:t>
            </a:r>
            <a:endParaRPr lang="en-US" sz="1050" dirty="0"/>
          </a:p>
        </p:txBody>
      </p:sp>
      <p:sp>
        <p:nvSpPr>
          <p:cNvPr id="9" name="Shape 7"/>
          <p:cNvSpPr/>
          <p:nvPr/>
        </p:nvSpPr>
        <p:spPr>
          <a:xfrm>
            <a:off x="5724977" y="2304852"/>
            <a:ext cx="5755536" cy="3200202"/>
          </a:xfrm>
          <a:prstGeom prst="roundRect">
            <a:avLst>
              <a:gd name="adj" fmla="val 357"/>
            </a:avLst>
          </a:prstGeom>
          <a:solidFill>
            <a:srgbClr val="13272B"/>
          </a:solidFill>
          <a:ln/>
        </p:spPr>
      </p:sp>
      <p:sp>
        <p:nvSpPr>
          <p:cNvPr id="10" name="Text 8"/>
          <p:cNvSpPr/>
          <p:nvPr/>
        </p:nvSpPr>
        <p:spPr>
          <a:xfrm>
            <a:off x="5938292" y="2482969"/>
            <a:ext cx="5328906" cy="284460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ArrayList&lt;String&gt; subjectNames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new ArrayList&lt;String&gt;();</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subjectNames.add(scanner.nextLine());</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Iterator&lt;String&gt; itr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subjectNames.iterator();</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while (itr.hasNext())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    ... itr.next() ...</a:t>
            </a:r>
            <a:endParaRPr lang="en-US" sz="1400" dirty="0"/>
          </a:p>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11" name="Text 9"/>
          <p:cNvSpPr/>
          <p:nvPr/>
        </p:nvSpPr>
        <p:spPr>
          <a:xfrm>
            <a:off x="11935618" y="6466086"/>
            <a:ext cx="256077"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TOPIC 3 / MUTABLE TEXT</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Topic 3: StringBuffer (append method)</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4622684" cy="4274542"/>
          </a:xfrm>
          <a:prstGeom prst="roundRect">
            <a:avLst>
              <a:gd name="adj" fmla="val 267"/>
            </a:avLst>
          </a:prstGeom>
          <a:noFill/>
          <a:ln w="19050">
            <a:solidFill>
              <a:srgbClr val="23585F"/>
            </a:solidFill>
            <a:prstDash val="solid"/>
          </a:ln>
        </p:spPr>
      </p:sp>
      <p:sp>
        <p:nvSpPr>
          <p:cNvPr id="6" name="Text 4"/>
          <p:cNvSpPr/>
          <p:nvPr/>
        </p:nvSpPr>
        <p:spPr>
          <a:xfrm>
            <a:off x="730232" y="2104926"/>
            <a:ext cx="4381390" cy="1377553"/>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StringBuffer is a mutable String: it can be changed in place</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append() adds text to the end of the buffer</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Chained append() calls build each subject line</a:t>
            </a:r>
            <a:endParaRPr lang="en-US" sz="1400" dirty="0"/>
          </a:p>
          <a:p>
            <a:pPr marL="284480" indent="-284480" algn="l">
              <a:lnSpc>
                <a:spcPct val="117000"/>
              </a:lnSpc>
              <a:buSzPct val="100000"/>
              <a:buChar char="•"/>
            </a:pPr>
            <a:r>
              <a:rPr lang="en-US" sz="1400" dirty="0">
                <a:solidFill>
                  <a:srgbClr val="EAF6FA"/>
                </a:solidFill>
                <a:latin typeface="Public Sans" pitchFamily="34" charset="0"/>
                <a:ea typeface="Public Sans" pitchFamily="34" charset="-122"/>
                <a:cs typeface="Public Sans" pitchFamily="34" charset="-120"/>
              </a:rPr>
              <a:t>No new String object is created on every join</a:t>
            </a:r>
            <a:endParaRPr lang="en-US" sz="1400" dirty="0"/>
          </a:p>
        </p:txBody>
      </p:sp>
      <p:sp>
        <p:nvSpPr>
          <p:cNvPr id="7" name="Shape 5"/>
          <p:cNvSpPr/>
          <p:nvPr/>
        </p:nvSpPr>
        <p:spPr>
          <a:xfrm>
            <a:off x="5536962" y="1984276"/>
            <a:ext cx="6045148" cy="4274542"/>
          </a:xfrm>
          <a:prstGeom prst="rect">
            <a:avLst/>
          </a:prstGeom>
          <a:solidFill>
            <a:srgbClr val="0A3F46"/>
          </a:solidFill>
          <a:ln/>
        </p:spPr>
      </p:sp>
      <p:sp>
        <p:nvSpPr>
          <p:cNvPr id="8" name="Text 6"/>
          <p:cNvSpPr/>
          <p:nvPr/>
        </p:nvSpPr>
        <p:spPr>
          <a:xfrm>
            <a:off x="5638560" y="2086828"/>
            <a:ext cx="594355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BUILDING THE SUBJECT REPORT</a:t>
            </a:r>
            <a:endParaRPr lang="en-US" sz="1050" dirty="0"/>
          </a:p>
        </p:txBody>
      </p:sp>
      <p:sp>
        <p:nvSpPr>
          <p:cNvPr id="9" name="Shape 7"/>
          <p:cNvSpPr/>
          <p:nvPr/>
        </p:nvSpPr>
        <p:spPr>
          <a:xfrm>
            <a:off x="5638560" y="2472531"/>
            <a:ext cx="5841953" cy="3484662"/>
          </a:xfrm>
          <a:prstGeom prst="roundRect">
            <a:avLst>
              <a:gd name="adj" fmla="val 328"/>
            </a:avLst>
          </a:prstGeom>
          <a:solidFill>
            <a:srgbClr val="13272B"/>
          </a:solidFill>
          <a:ln/>
        </p:spPr>
      </p:sp>
      <p:sp>
        <p:nvSpPr>
          <p:cNvPr id="10" name="Text 8"/>
          <p:cNvSpPr/>
          <p:nvPr/>
        </p:nvSpPr>
        <p:spPr>
          <a:xfrm>
            <a:off x="5851875" y="2650649"/>
            <a:ext cx="5415323" cy="312906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StringBuffer subjectReport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new StringBuffer();</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subjectReport.append(index + 1)</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.append(itr.next())</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 -&gt; Grade: ")</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.append(grades[index])</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  .append("\n");</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System.out.print(subjectReport);</a:t>
            </a:r>
            <a:endParaRPr lang="en-US" sz="1400" dirty="0"/>
          </a:p>
        </p:txBody>
      </p:sp>
      <p:sp>
        <p:nvSpPr>
          <p:cNvPr id="11" name="Text 9"/>
          <p:cNvSpPr/>
          <p:nvPr/>
        </p:nvSpPr>
        <p:spPr>
          <a:xfrm>
            <a:off x="11934130" y="6466086"/>
            <a:ext cx="25756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ARITHMETIC PROCESSING</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Accumulation &amp; Explicit Casting</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5333867" cy="2363291"/>
          </a:xfrm>
          <a:prstGeom prst="roundRect">
            <a:avLst>
              <a:gd name="adj" fmla="val 484"/>
            </a:avLst>
          </a:prstGeom>
          <a:noFill/>
          <a:ln w="19050">
            <a:solidFill>
              <a:srgbClr val="23585F"/>
            </a:solidFill>
            <a:prstDash val="solid"/>
          </a:ln>
        </p:spPr>
      </p:sp>
      <p:sp>
        <p:nvSpPr>
          <p:cNvPr id="6" name="Text 4"/>
          <p:cNvSpPr/>
          <p:nvPr/>
        </p:nvSpPr>
        <p:spPr>
          <a:xfrm>
            <a:off x="882628" y="2273201"/>
            <a:ext cx="4787780"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Average Grade Calculation</a:t>
            </a:r>
            <a:endParaRPr lang="en-US" sz="2000" dirty="0"/>
          </a:p>
        </p:txBody>
      </p:sp>
      <p:sp>
        <p:nvSpPr>
          <p:cNvPr id="7" name="Shape 5"/>
          <p:cNvSpPr/>
          <p:nvPr/>
        </p:nvSpPr>
        <p:spPr>
          <a:xfrm>
            <a:off x="882628" y="2736751"/>
            <a:ext cx="4787780" cy="640060"/>
          </a:xfrm>
          <a:prstGeom prst="roundRect">
            <a:avLst>
              <a:gd name="adj" fmla="val 1786"/>
            </a:avLst>
          </a:prstGeom>
          <a:solidFill>
            <a:srgbClr val="13272B"/>
          </a:solidFill>
          <a:ln/>
        </p:spPr>
      </p:sp>
      <p:sp>
        <p:nvSpPr>
          <p:cNvPr id="8" name="Text 6"/>
          <p:cNvSpPr/>
          <p:nvPr/>
        </p:nvSpPr>
        <p:spPr>
          <a:xfrm>
            <a:off x="1095943" y="2914868"/>
            <a:ext cx="4847508" cy="284460"/>
          </a:xfrm>
          <a:prstGeom prst="rect">
            <a:avLst/>
          </a:prstGeom>
          <a:noFill/>
          <a:ln/>
        </p:spPr>
        <p:txBody>
          <a:bodyPr wrap="none" lIns="0" tIns="0" rIns="0" bIns="0" rtlCol="0" anchor="t"/>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double average = totalGradePoints / totalSubjects;</a:t>
            </a:r>
            <a:endParaRPr lang="en-US" sz="1400" dirty="0"/>
          </a:p>
        </p:txBody>
      </p:sp>
      <p:sp>
        <p:nvSpPr>
          <p:cNvPr id="9" name="Text 7"/>
          <p:cNvSpPr/>
          <p:nvPr/>
        </p:nvSpPr>
        <p:spPr>
          <a:xfrm>
            <a:off x="882628" y="3581281"/>
            <a:ext cx="478778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Performs floating-point division using accumulated grade scores.</a:t>
            </a:r>
            <a:endParaRPr lang="en-US" sz="1400" dirty="0"/>
          </a:p>
        </p:txBody>
      </p:sp>
      <p:sp>
        <p:nvSpPr>
          <p:cNvPr id="10" name="Shape 8"/>
          <p:cNvSpPr/>
          <p:nvPr/>
        </p:nvSpPr>
        <p:spPr>
          <a:xfrm>
            <a:off x="6248244" y="1984276"/>
            <a:ext cx="5333867" cy="2363291"/>
          </a:xfrm>
          <a:prstGeom prst="roundRect">
            <a:avLst>
              <a:gd name="adj" fmla="val 484"/>
            </a:avLst>
          </a:prstGeom>
          <a:noFill/>
          <a:ln w="19050">
            <a:solidFill>
              <a:srgbClr val="23585F"/>
            </a:solidFill>
            <a:prstDash val="solid"/>
          </a:ln>
        </p:spPr>
      </p:sp>
      <p:sp>
        <p:nvSpPr>
          <p:cNvPr id="11" name="Text 9"/>
          <p:cNvSpPr/>
          <p:nvPr/>
        </p:nvSpPr>
        <p:spPr>
          <a:xfrm>
            <a:off x="6521287" y="2273201"/>
            <a:ext cx="4787780"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Attendance Percentage</a:t>
            </a:r>
            <a:endParaRPr lang="en-US" sz="2000" dirty="0"/>
          </a:p>
        </p:txBody>
      </p:sp>
      <p:sp>
        <p:nvSpPr>
          <p:cNvPr id="12" name="Shape 10"/>
          <p:cNvSpPr/>
          <p:nvPr/>
        </p:nvSpPr>
        <p:spPr>
          <a:xfrm>
            <a:off x="6521287" y="2736751"/>
            <a:ext cx="4787780" cy="640060"/>
          </a:xfrm>
          <a:prstGeom prst="roundRect">
            <a:avLst>
              <a:gd name="adj" fmla="val 1786"/>
            </a:avLst>
          </a:prstGeom>
          <a:solidFill>
            <a:srgbClr val="13272B"/>
          </a:solidFill>
          <a:ln/>
        </p:spPr>
      </p:sp>
      <p:sp>
        <p:nvSpPr>
          <p:cNvPr id="13" name="Text 11"/>
          <p:cNvSpPr/>
          <p:nvPr/>
        </p:nvSpPr>
        <p:spPr>
          <a:xfrm>
            <a:off x="6734602" y="2914868"/>
            <a:ext cx="4847508" cy="284460"/>
          </a:xfrm>
          <a:prstGeom prst="rect">
            <a:avLst/>
          </a:prstGeom>
          <a:noFill/>
          <a:ln/>
        </p:spPr>
        <p:txBody>
          <a:bodyPr wrap="none" lIns="0" tIns="0" rIns="0" bIns="0" rtlCol="0" anchor="t"/>
          <a:lstStyle/>
          <a:p>
            <a:pPr marL="0" indent="0" algn="l">
              <a:lnSpc>
                <a:spcPct val="133000"/>
              </a:lnSpc>
              <a:buNone/>
            </a:pPr>
            <a:r>
              <a:rPr lang="en-US" sz="1400" dirty="0">
                <a:solidFill>
                  <a:srgbClr val="E6EDF3"/>
                </a:solidFill>
                <a:latin typeface="Consolas" pitchFamily="34" charset="0"/>
                <a:ea typeface="Consolas" pitchFamily="34" charset="-122"/>
                <a:cs typeface="Consolas" pitchFamily="34" charset="-120"/>
              </a:rPr>
              <a:t>((double) sumAttended / sumTotalClasses) * 100</a:t>
            </a:r>
            <a:endParaRPr lang="en-US" sz="1400" dirty="0"/>
          </a:p>
        </p:txBody>
      </p:sp>
      <p:sp>
        <p:nvSpPr>
          <p:cNvPr id="14" name="Text 12"/>
          <p:cNvSpPr/>
          <p:nvPr/>
        </p:nvSpPr>
        <p:spPr>
          <a:xfrm>
            <a:off x="6521287" y="3581281"/>
            <a:ext cx="478778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Casts integer numerator to double to avoid loss of fraction.</a:t>
            </a:r>
            <a:endParaRPr lang="en-US" sz="1400" dirty="0"/>
          </a:p>
        </p:txBody>
      </p:sp>
      <p:sp>
        <p:nvSpPr>
          <p:cNvPr id="15" name="Text 13"/>
          <p:cNvSpPr/>
          <p:nvPr/>
        </p:nvSpPr>
        <p:spPr>
          <a:xfrm>
            <a:off x="11936412" y="6466086"/>
            <a:ext cx="255283"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4937696"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BUSINESS RULES</a:t>
            </a:r>
            <a:endParaRPr lang="en-US" sz="1050" dirty="0"/>
          </a:p>
        </p:txBody>
      </p:sp>
      <p:sp>
        <p:nvSpPr>
          <p:cNvPr id="3" name="Text 1"/>
          <p:cNvSpPr/>
          <p:nvPr/>
        </p:nvSpPr>
        <p:spPr>
          <a:xfrm>
            <a:off x="609585" y="915928"/>
            <a:ext cx="4328111" cy="1341041"/>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Exam Eligibility Thresholds</a:t>
            </a:r>
            <a:endParaRPr lang="en-US" sz="4800" dirty="0"/>
          </a:p>
        </p:txBody>
      </p:sp>
      <p:sp>
        <p:nvSpPr>
          <p:cNvPr id="4" name="Shape 2"/>
          <p:cNvSpPr/>
          <p:nvPr/>
        </p:nvSpPr>
        <p:spPr>
          <a:xfrm>
            <a:off x="609585" y="2486323"/>
            <a:ext cx="1428218" cy="19050"/>
          </a:xfrm>
          <a:prstGeom prst="roundRect">
            <a:avLst>
              <a:gd name="adj" fmla="val 49999"/>
            </a:avLst>
          </a:prstGeom>
          <a:solidFill>
            <a:srgbClr val="A9DDF0"/>
          </a:solidFill>
          <a:ln/>
        </p:spPr>
      </p:sp>
      <p:sp>
        <p:nvSpPr>
          <p:cNvPr id="5" name="Text 3"/>
          <p:cNvSpPr/>
          <p:nvPr/>
        </p:nvSpPr>
        <p:spPr>
          <a:xfrm>
            <a:off x="609585" y="2802235"/>
            <a:ext cx="4328111" cy="939800"/>
          </a:xfrm>
          <a:prstGeom prst="rect">
            <a:avLst/>
          </a:prstGeom>
          <a:noFill/>
          <a:ln/>
        </p:spPr>
        <p:txBody>
          <a:bodyPr wrap="none" lIns="0" tIns="0" rIns="0" bIns="0" rtlCol="0" anchor="t"/>
          <a:lstStyle/>
          <a:p>
            <a:pPr marL="0" indent="0" algn="l">
              <a:lnSpc>
                <a:spcPct val="83000"/>
              </a:lnSpc>
              <a:buNone/>
            </a:pPr>
            <a:r>
              <a:rPr lang="en-US" sz="7400" dirty="0">
                <a:solidFill>
                  <a:srgbClr val="7C3AED"/>
                </a:solidFill>
                <a:latin typeface="Saira Semi Condensed" pitchFamily="34" charset="0"/>
                <a:ea typeface="Saira Semi Condensed" pitchFamily="34" charset="-122"/>
                <a:cs typeface="Saira Semi Condensed" pitchFamily="34" charset="-120"/>
              </a:rPr>
              <a:t>75%</a:t>
            </a:r>
            <a:endParaRPr lang="en-US" sz="7400" dirty="0"/>
          </a:p>
        </p:txBody>
      </p:sp>
      <p:sp>
        <p:nvSpPr>
          <p:cNvPr id="6" name="Text 4"/>
          <p:cNvSpPr/>
          <p:nvPr/>
        </p:nvSpPr>
        <p:spPr>
          <a:xfrm>
            <a:off x="609585" y="3769023"/>
            <a:ext cx="4328111"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Minimum Attendance</a:t>
            </a:r>
            <a:endParaRPr lang="en-US" sz="2000" dirty="0"/>
          </a:p>
        </p:txBody>
      </p:sp>
      <p:sp>
        <p:nvSpPr>
          <p:cNvPr id="7" name="Text 5"/>
          <p:cNvSpPr/>
          <p:nvPr/>
        </p:nvSpPr>
        <p:spPr>
          <a:xfrm>
            <a:off x="609585" y="4163993"/>
            <a:ext cx="4328111"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Required class participation rate across all courses.</a:t>
            </a:r>
            <a:endParaRPr lang="en-US" sz="1400" dirty="0"/>
          </a:p>
        </p:txBody>
      </p:sp>
      <p:sp>
        <p:nvSpPr>
          <p:cNvPr id="8" name="Text 6"/>
          <p:cNvSpPr/>
          <p:nvPr/>
        </p:nvSpPr>
        <p:spPr>
          <a:xfrm>
            <a:off x="609585" y="4502051"/>
            <a:ext cx="4328111" cy="939800"/>
          </a:xfrm>
          <a:prstGeom prst="rect">
            <a:avLst/>
          </a:prstGeom>
          <a:noFill/>
          <a:ln/>
        </p:spPr>
        <p:txBody>
          <a:bodyPr wrap="none" lIns="0" tIns="0" rIns="0" bIns="0" rtlCol="0" anchor="t"/>
          <a:lstStyle/>
          <a:p>
            <a:pPr marL="0" indent="0" algn="l">
              <a:lnSpc>
                <a:spcPct val="83000"/>
              </a:lnSpc>
              <a:buNone/>
            </a:pPr>
            <a:r>
              <a:rPr lang="en-US" sz="7400" dirty="0">
                <a:solidFill>
                  <a:srgbClr val="7C3AED"/>
                </a:solidFill>
                <a:latin typeface="Saira Semi Condensed" pitchFamily="34" charset="0"/>
                <a:ea typeface="Saira Semi Condensed" pitchFamily="34" charset="-122"/>
                <a:cs typeface="Saira Semi Condensed" pitchFamily="34" charset="-120"/>
              </a:rPr>
              <a:t>60%</a:t>
            </a:r>
            <a:endParaRPr lang="en-US" sz="7400" dirty="0"/>
          </a:p>
        </p:txBody>
      </p:sp>
      <p:sp>
        <p:nvSpPr>
          <p:cNvPr id="9" name="Text 7"/>
          <p:cNvSpPr/>
          <p:nvPr/>
        </p:nvSpPr>
        <p:spPr>
          <a:xfrm>
            <a:off x="609585" y="5468838"/>
            <a:ext cx="4328111"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Minimum Average Grade</a:t>
            </a:r>
            <a:endParaRPr lang="en-US" sz="2000" dirty="0"/>
          </a:p>
        </p:txBody>
      </p:sp>
      <p:sp>
        <p:nvSpPr>
          <p:cNvPr id="10" name="Text 8"/>
          <p:cNvSpPr/>
          <p:nvPr/>
        </p:nvSpPr>
        <p:spPr>
          <a:xfrm>
            <a:off x="609585" y="5863808"/>
            <a:ext cx="4328111"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Passing academic performance threshold.</a:t>
            </a:r>
            <a:endParaRPr lang="en-US" sz="1400" dirty="0"/>
          </a:p>
        </p:txBody>
      </p:sp>
      <p:sp>
        <p:nvSpPr>
          <p:cNvPr id="11" name="Shape 9"/>
          <p:cNvSpPr/>
          <p:nvPr/>
        </p:nvSpPr>
        <p:spPr>
          <a:xfrm>
            <a:off x="5851974" y="0"/>
            <a:ext cx="6339721" cy="6858000"/>
          </a:xfrm>
          <a:prstGeom prst="rect">
            <a:avLst/>
          </a:prstGeom>
          <a:solidFill>
            <a:srgbClr val="0A3F46"/>
          </a:solidFill>
          <a:ln/>
        </p:spPr>
      </p:sp>
      <p:sp>
        <p:nvSpPr>
          <p:cNvPr id="12" name="Text 10"/>
          <p:cNvSpPr/>
          <p:nvPr/>
        </p:nvSpPr>
        <p:spPr>
          <a:xfrm>
            <a:off x="6131367" y="2247662"/>
            <a:ext cx="606032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FFFF"/>
                </a:solidFill>
                <a:latin typeface="Public Sans" pitchFamily="34" charset="0"/>
                <a:ea typeface="Public Sans" pitchFamily="34" charset="-122"/>
                <a:cs typeface="Public Sans" pitchFamily="34" charset="-120"/>
              </a:rPr>
              <a:t>LOGICAL EVALUATION CODE</a:t>
            </a:r>
            <a:endParaRPr lang="en-US" sz="1050" dirty="0"/>
          </a:p>
        </p:txBody>
      </p:sp>
      <p:sp>
        <p:nvSpPr>
          <p:cNvPr id="13" name="Shape 11"/>
          <p:cNvSpPr/>
          <p:nvPr/>
        </p:nvSpPr>
        <p:spPr>
          <a:xfrm>
            <a:off x="6131367" y="2633365"/>
            <a:ext cx="5780935" cy="1777901"/>
          </a:xfrm>
          <a:prstGeom prst="roundRect">
            <a:avLst>
              <a:gd name="adj" fmla="val 643"/>
            </a:avLst>
          </a:prstGeom>
          <a:solidFill>
            <a:srgbClr val="13272B"/>
          </a:solidFill>
          <a:ln/>
        </p:spPr>
      </p:sp>
      <p:sp>
        <p:nvSpPr>
          <p:cNvPr id="14" name="Text 12"/>
          <p:cNvSpPr/>
          <p:nvPr/>
        </p:nvSpPr>
        <p:spPr>
          <a:xfrm>
            <a:off x="6344682" y="2811482"/>
            <a:ext cx="5354305" cy="1422301"/>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meetsAtt = attendance &gt;= 75.0;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passesG = average &gt;= 60.0;</a:t>
            </a: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boolean isEligible = meetsAtt &amp;&amp; passesG;</a:t>
            </a:r>
            <a:endParaRPr lang="en-US" sz="1400" dirty="0"/>
          </a:p>
          <a:p>
            <a:pPr marL="0" indent="0" algn="l">
              <a:lnSpc>
                <a:spcPct val="133000"/>
              </a:lnSpc>
              <a:buNone/>
            </a:pPr>
            <a:endParaRPr lang="en-US" sz="1400" dirty="0"/>
          </a:p>
          <a:p>
            <a:pPr marL="0" indent="0" algn="l">
              <a:lnSpc>
                <a:spcPct val="133000"/>
              </a:lnSpc>
              <a:buNone/>
            </a:pPr>
            <a:r>
              <a:rPr lang="en-US" sz="1400" dirty="0">
                <a:solidFill>
                  <a:srgbClr val="FF7B72"/>
                </a:solidFill>
                <a:latin typeface="Consolas" pitchFamily="34" charset="0"/>
                <a:ea typeface="Consolas" pitchFamily="34" charset="-122"/>
                <a:cs typeface="Consolas" pitchFamily="34" charset="-120"/>
              </a:rPr>
              <a:t>String msg = isEligible ? "Eligible" : "Ineligible";</a:t>
            </a:r>
            <a:endParaRPr lang="en-US" sz="1400" dirty="0"/>
          </a:p>
        </p:txBody>
      </p:sp>
      <p:sp>
        <p:nvSpPr>
          <p:cNvPr id="15" name="Text 13"/>
          <p:cNvSpPr/>
          <p:nvPr/>
        </p:nvSpPr>
        <p:spPr>
          <a:xfrm>
            <a:off x="11939090" y="6466086"/>
            <a:ext cx="252605"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85" y="610553"/>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09 / NEXT STEPS &amp; WRAP-UP</a:t>
            </a:r>
            <a:endParaRPr lang="en-US" sz="1050" dirty="0"/>
          </a:p>
        </p:txBody>
      </p:sp>
      <p:sp>
        <p:nvSpPr>
          <p:cNvPr id="3" name="Text 1"/>
          <p:cNvSpPr/>
          <p:nvPr/>
        </p:nvSpPr>
        <p:spPr>
          <a:xfrm>
            <a:off x="609585" y="915928"/>
            <a:ext cx="10972526" cy="670520"/>
          </a:xfrm>
          <a:prstGeom prst="rect">
            <a:avLst/>
          </a:prstGeom>
          <a:noFill/>
          <a:ln/>
        </p:spPr>
        <p:txBody>
          <a:bodyPr wrap="none" lIns="0" tIns="0" rIns="0" bIns="0" rtlCol="0" anchor="t"/>
          <a:lstStyle/>
          <a:p>
            <a:pPr marL="0" indent="0" algn="l">
              <a:lnSpc>
                <a:spcPct val="92000"/>
              </a:lnSpc>
              <a:buNone/>
            </a:pPr>
            <a:r>
              <a:rPr lang="en-US" sz="4800" dirty="0">
                <a:solidFill>
                  <a:srgbClr val="EAF6FA"/>
                </a:solidFill>
                <a:latin typeface="Saira Semi Condensed" pitchFamily="34" charset="0"/>
                <a:ea typeface="Saira Semi Condensed" pitchFamily="34" charset="-122"/>
                <a:cs typeface="Saira Semi Condensed" pitchFamily="34" charset="-120"/>
              </a:rPr>
              <a:t>FUTURE SCOPE &amp; CONCLUSION</a:t>
            </a:r>
            <a:endParaRPr lang="en-US" sz="4800" dirty="0"/>
          </a:p>
        </p:txBody>
      </p:sp>
      <p:sp>
        <p:nvSpPr>
          <p:cNvPr id="4" name="Shape 2"/>
          <p:cNvSpPr/>
          <p:nvPr/>
        </p:nvSpPr>
        <p:spPr>
          <a:xfrm>
            <a:off x="609585" y="1762026"/>
            <a:ext cx="10972526" cy="19050"/>
          </a:xfrm>
          <a:prstGeom prst="roundRect">
            <a:avLst>
              <a:gd name="adj" fmla="val 49999"/>
            </a:avLst>
          </a:prstGeom>
          <a:solidFill>
            <a:srgbClr val="2F6A73"/>
          </a:solidFill>
          <a:ln/>
        </p:spPr>
      </p:sp>
      <p:sp>
        <p:nvSpPr>
          <p:cNvPr id="5" name="Shape 3"/>
          <p:cNvSpPr/>
          <p:nvPr/>
        </p:nvSpPr>
        <p:spPr>
          <a:xfrm>
            <a:off x="609585" y="1984276"/>
            <a:ext cx="3454314" cy="1994297"/>
          </a:xfrm>
          <a:prstGeom prst="roundRect">
            <a:avLst>
              <a:gd name="adj" fmla="val 573"/>
            </a:avLst>
          </a:prstGeom>
          <a:noFill/>
          <a:ln w="19050">
            <a:solidFill>
              <a:srgbClr val="23585F"/>
            </a:solidFill>
            <a:prstDash val="solid"/>
          </a:ln>
        </p:spPr>
      </p:sp>
      <p:pic>
        <p:nvPicPr>
          <p:cNvPr id="6" name="Image 0" descr="preencoded.png"/>
          <p:cNvPicPr>
            <a:picLocks noChangeAspect="1"/>
          </p:cNvPicPr>
          <p:nvPr/>
        </p:nvPicPr>
        <p:blipFill>
          <a:blip r:embed="rId3"/>
          <a:stretch>
            <a:fillRect/>
          </a:stretch>
        </p:blipFill>
        <p:spPr>
          <a:xfrm>
            <a:off x="831829" y="2206526"/>
            <a:ext cx="200020" cy="228600"/>
          </a:xfrm>
          <a:prstGeom prst="rect">
            <a:avLst/>
          </a:prstGeom>
        </p:spPr>
      </p:pic>
      <p:sp>
        <p:nvSpPr>
          <p:cNvPr id="7" name="Text 4"/>
          <p:cNvSpPr/>
          <p:nvPr/>
        </p:nvSpPr>
        <p:spPr>
          <a:xfrm>
            <a:off x="831829" y="2609751"/>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MySQL Database</a:t>
            </a:r>
            <a:endParaRPr lang="en-US" sz="2000" dirty="0"/>
          </a:p>
        </p:txBody>
      </p:sp>
      <p:sp>
        <p:nvSpPr>
          <p:cNvPr id="8" name="Text 5"/>
          <p:cNvSpPr/>
          <p:nvPr/>
        </p:nvSpPr>
        <p:spPr>
          <a:xfrm>
            <a:off x="831829" y="3004721"/>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Replace volatile arrays with persistent SQL tables for multi-year academic history storage.</a:t>
            </a:r>
            <a:endParaRPr lang="en-US" sz="1400" dirty="0"/>
          </a:p>
        </p:txBody>
      </p:sp>
      <p:sp>
        <p:nvSpPr>
          <p:cNvPr id="9" name="Shape 6"/>
          <p:cNvSpPr/>
          <p:nvPr/>
        </p:nvSpPr>
        <p:spPr>
          <a:xfrm>
            <a:off x="4368691" y="1984276"/>
            <a:ext cx="3454314" cy="1994297"/>
          </a:xfrm>
          <a:prstGeom prst="roundRect">
            <a:avLst>
              <a:gd name="adj" fmla="val 573"/>
            </a:avLst>
          </a:prstGeom>
          <a:noFill/>
          <a:ln w="19050">
            <a:solidFill>
              <a:srgbClr val="23585F"/>
            </a:solidFill>
            <a:prstDash val="solid"/>
          </a:ln>
        </p:spPr>
      </p:sp>
      <p:pic>
        <p:nvPicPr>
          <p:cNvPr id="10" name="Image 1" descr="preencoded.png"/>
          <p:cNvPicPr>
            <a:picLocks noChangeAspect="1"/>
          </p:cNvPicPr>
          <p:nvPr/>
        </p:nvPicPr>
        <p:blipFill>
          <a:blip r:embed="rId4"/>
          <a:stretch>
            <a:fillRect/>
          </a:stretch>
        </p:blipFill>
        <p:spPr>
          <a:xfrm>
            <a:off x="4590935" y="2206526"/>
            <a:ext cx="266693" cy="238125"/>
          </a:xfrm>
          <a:prstGeom prst="rect">
            <a:avLst/>
          </a:prstGeom>
        </p:spPr>
      </p:pic>
      <p:sp>
        <p:nvSpPr>
          <p:cNvPr id="11" name="Text 7"/>
          <p:cNvSpPr/>
          <p:nvPr/>
        </p:nvSpPr>
        <p:spPr>
          <a:xfrm>
            <a:off x="4590935" y="2619276"/>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JavaFX GUI Interface</a:t>
            </a:r>
            <a:endParaRPr lang="en-US" sz="2000" dirty="0"/>
          </a:p>
        </p:txBody>
      </p:sp>
      <p:sp>
        <p:nvSpPr>
          <p:cNvPr id="12" name="Text 8"/>
          <p:cNvSpPr/>
          <p:nvPr/>
        </p:nvSpPr>
        <p:spPr>
          <a:xfrm>
            <a:off x="4590935" y="3014246"/>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Develop a rich graphical user interface with visual performance charts and dashboards.</a:t>
            </a:r>
            <a:endParaRPr lang="en-US" sz="1400" dirty="0"/>
          </a:p>
        </p:txBody>
      </p:sp>
      <p:sp>
        <p:nvSpPr>
          <p:cNvPr id="13" name="Shape 9"/>
          <p:cNvSpPr/>
          <p:nvPr/>
        </p:nvSpPr>
        <p:spPr>
          <a:xfrm>
            <a:off x="8127797" y="1984276"/>
            <a:ext cx="3454314" cy="1994297"/>
          </a:xfrm>
          <a:prstGeom prst="roundRect">
            <a:avLst>
              <a:gd name="adj" fmla="val 573"/>
            </a:avLst>
          </a:prstGeom>
          <a:noFill/>
          <a:ln w="19050">
            <a:solidFill>
              <a:srgbClr val="23585F"/>
            </a:solidFill>
            <a:prstDash val="solid"/>
          </a:ln>
        </p:spPr>
      </p:sp>
      <p:pic>
        <p:nvPicPr>
          <p:cNvPr id="14" name="Image 2" descr="preencoded.png"/>
          <p:cNvPicPr>
            <a:picLocks noChangeAspect="1"/>
          </p:cNvPicPr>
          <p:nvPr/>
        </p:nvPicPr>
        <p:blipFill>
          <a:blip r:embed="rId5"/>
          <a:stretch>
            <a:fillRect/>
          </a:stretch>
        </p:blipFill>
        <p:spPr>
          <a:xfrm>
            <a:off x="8350041" y="2206526"/>
            <a:ext cx="295268" cy="228600"/>
          </a:xfrm>
          <a:prstGeom prst="rect">
            <a:avLst/>
          </a:prstGeom>
        </p:spPr>
      </p:pic>
      <p:sp>
        <p:nvSpPr>
          <p:cNvPr id="15" name="Text 10"/>
          <p:cNvSpPr/>
          <p:nvPr/>
        </p:nvSpPr>
        <p:spPr>
          <a:xfrm>
            <a:off x="8350041" y="2609751"/>
            <a:ext cx="3009825"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Automated Alerts</a:t>
            </a:r>
            <a:endParaRPr lang="en-US" sz="2000" dirty="0"/>
          </a:p>
        </p:txBody>
      </p:sp>
      <p:sp>
        <p:nvSpPr>
          <p:cNvPr id="16" name="Text 11"/>
          <p:cNvSpPr/>
          <p:nvPr/>
        </p:nvSpPr>
        <p:spPr>
          <a:xfrm>
            <a:off x="8350041" y="3004721"/>
            <a:ext cx="3009825"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Dispatch instant SMS/Email warnings to students and guardians when attendance drops below 75%.</a:t>
            </a:r>
            <a:endParaRPr lang="en-US" sz="1400" dirty="0"/>
          </a:p>
        </p:txBody>
      </p:sp>
      <p:sp>
        <p:nvSpPr>
          <p:cNvPr id="17" name="Text 12"/>
          <p:cNvSpPr/>
          <p:nvPr/>
        </p:nvSpPr>
        <p:spPr>
          <a:xfrm>
            <a:off x="609585" y="4381798"/>
            <a:ext cx="8534187"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Empowering Higher Education with Automated Precision</a:t>
            </a:r>
            <a:endParaRPr lang="en-US" sz="2000" dirty="0"/>
          </a:p>
        </p:txBody>
      </p:sp>
      <p:sp>
        <p:nvSpPr>
          <p:cNvPr id="18" name="Text 13"/>
          <p:cNvSpPr/>
          <p:nvPr/>
        </p:nvSpPr>
        <p:spPr>
          <a:xfrm>
            <a:off x="609585" y="4776768"/>
            <a:ext cx="8534187" cy="248841"/>
          </a:xfrm>
          <a:prstGeom prst="rect">
            <a:avLst/>
          </a:prstGeom>
          <a:noFill/>
          <a:ln/>
        </p:spPr>
        <p:txBody>
          <a:bodyPr wrap="none" lIns="0" tIns="0" rIns="0" bIns="0" rtlCol="0" anchor="t"/>
          <a:lstStyle/>
          <a:p>
            <a:pPr marL="0" indent="0" algn="l">
              <a:lnSpc>
                <a:spcPct val="117000"/>
              </a:lnSpc>
              <a:buNone/>
            </a:pPr>
            <a:r>
              <a:rPr lang="en-US" sz="1400" dirty="0">
                <a:solidFill>
                  <a:srgbClr val="EAF6FA"/>
                </a:solidFill>
                <a:latin typeface="Public Sans" pitchFamily="34" charset="0"/>
                <a:ea typeface="Public Sans" pitchFamily="34" charset="-122"/>
                <a:cs typeface="Public Sans" pitchFamily="34" charset="-120"/>
              </a:rPr>
              <a:t>Thank you! Ready for Questions &amp; Discussion.</a:t>
            </a:r>
            <a:endParaRPr lang="en-US" sz="1400" dirty="0"/>
          </a:p>
        </p:txBody>
      </p:sp>
      <p:sp>
        <p:nvSpPr>
          <p:cNvPr id="19" name="Shape 14"/>
          <p:cNvSpPr/>
          <p:nvPr/>
        </p:nvSpPr>
        <p:spPr>
          <a:xfrm>
            <a:off x="9448464" y="4137323"/>
            <a:ext cx="2133646" cy="1112441"/>
          </a:xfrm>
          <a:prstGeom prst="rect">
            <a:avLst/>
          </a:prstGeom>
          <a:solidFill>
            <a:srgbClr val="7C3AED"/>
          </a:solidFill>
          <a:ln/>
        </p:spPr>
      </p:sp>
      <p:sp>
        <p:nvSpPr>
          <p:cNvPr id="20" name="Text 15"/>
          <p:cNvSpPr/>
          <p:nvPr/>
        </p:nvSpPr>
        <p:spPr>
          <a:xfrm>
            <a:off x="9448464" y="4294168"/>
            <a:ext cx="2133646" cy="248841"/>
          </a:xfrm>
          <a:prstGeom prst="rect">
            <a:avLst/>
          </a:prstGeom>
          <a:noFill/>
          <a:ln/>
        </p:spPr>
        <p:txBody>
          <a:bodyPr wrap="none" lIns="0" tIns="0" rIns="0" bIns="0" rtlCol="0" anchor="t"/>
          <a:lstStyle/>
          <a:p>
            <a:pPr marL="0" indent="0" algn="ctr">
              <a:lnSpc>
                <a:spcPct val="117000"/>
              </a:lnSpc>
              <a:buNone/>
            </a:pPr>
            <a:r>
              <a:rPr lang="en-US" sz="1400" b="1" dirty="0">
                <a:solidFill>
                  <a:srgbClr val="FFFFFF"/>
                </a:solidFill>
                <a:latin typeface="Public Sans Bold" pitchFamily="34" charset="0"/>
                <a:ea typeface="Public Sans Bold" pitchFamily="34" charset="-122"/>
                <a:cs typeface="Public Sans Bold" pitchFamily="34" charset="-120"/>
              </a:rPr>
              <a:t>Q &amp; A</a:t>
            </a:r>
            <a:endParaRPr lang="en-US" sz="1400" dirty="0"/>
          </a:p>
        </p:txBody>
      </p:sp>
      <p:sp>
        <p:nvSpPr>
          <p:cNvPr id="21" name="Text 16"/>
          <p:cNvSpPr/>
          <p:nvPr/>
        </p:nvSpPr>
        <p:spPr>
          <a:xfrm>
            <a:off x="11933336" y="6466086"/>
            <a:ext cx="258359" cy="174129"/>
          </a:xfrm>
          <a:prstGeom prst="rect">
            <a:avLst/>
          </a:prstGeom>
          <a:noFill/>
          <a:ln/>
        </p:spPr>
        <p:txBody>
          <a:bodyPr wrap="none" lIns="0" tIns="0" rIns="0" bIns="0" rtlCol="0" anchor="ctr"/>
          <a:lstStyle/>
          <a:p>
            <a:pPr marL="0" indent="0" algn="l">
              <a:lnSpc>
                <a:spcPct val="117000"/>
              </a:lnSpc>
              <a:buNone/>
            </a:pPr>
            <a:r>
              <a:rPr lang="en-US" sz="1000" dirty="0">
                <a:solidFill>
                  <a:srgbClr val="EAF6FA"/>
                </a:solidFill>
                <a:latin typeface="Public Sans" pitchFamily="34" charset="0"/>
                <a:ea typeface="Public Sans" pitchFamily="34" charset="-122"/>
                <a:cs typeface="Public Sans" pitchFamily="34" charset="-120"/>
              </a:rPr>
              <a:t>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3790" y="610553"/>
            <a:ext cx="287370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A9DDF0"/>
                </a:solidFill>
                <a:latin typeface="Public Sans" pitchFamily="34" charset="0"/>
                <a:ea typeface="Public Sans" pitchFamily="34" charset="-122"/>
                <a:cs typeface="Public Sans" pitchFamily="34" charset="-120"/>
              </a:rPr>
              <a:t>CAPSTONE PROJECT REVIEW – 2</a:t>
            </a:r>
            <a:endParaRPr lang="en-US" sz="1050" dirty="0"/>
          </a:p>
        </p:txBody>
      </p:sp>
      <p:pic>
        <p:nvPicPr>
          <p:cNvPr id="3" name="Image 0" descr="preencoded.png"/>
          <p:cNvPicPr>
            <a:picLocks noChangeAspect="1"/>
          </p:cNvPicPr>
          <p:nvPr/>
        </p:nvPicPr>
        <p:blipFill>
          <a:blip r:embed="rId3"/>
          <a:stretch>
            <a:fillRect/>
          </a:stretch>
        </p:blipFill>
        <p:spPr>
          <a:xfrm>
            <a:off x="5752956" y="1502966"/>
            <a:ext cx="685783" cy="685800"/>
          </a:xfrm>
          <a:prstGeom prst="rect">
            <a:avLst/>
          </a:prstGeom>
        </p:spPr>
      </p:pic>
      <p:pic>
        <p:nvPicPr>
          <p:cNvPr id="4" name="Image 1" descr="preencoded.png"/>
          <p:cNvPicPr>
            <a:picLocks noChangeAspect="1"/>
          </p:cNvPicPr>
          <p:nvPr/>
        </p:nvPicPr>
        <p:blipFill>
          <a:blip r:embed="rId4"/>
          <a:stretch>
            <a:fillRect/>
          </a:stretch>
        </p:blipFill>
        <p:spPr>
          <a:xfrm>
            <a:off x="5900590" y="2347516"/>
            <a:ext cx="390515" cy="314325"/>
          </a:xfrm>
          <a:prstGeom prst="rect">
            <a:avLst/>
          </a:prstGeom>
        </p:spPr>
      </p:pic>
      <p:sp>
        <p:nvSpPr>
          <p:cNvPr id="5" name="Text 1"/>
          <p:cNvSpPr/>
          <p:nvPr/>
        </p:nvSpPr>
        <p:spPr>
          <a:xfrm>
            <a:off x="3685289" y="3057128"/>
            <a:ext cx="10972526" cy="939800"/>
          </a:xfrm>
          <a:prstGeom prst="rect">
            <a:avLst/>
          </a:prstGeom>
          <a:noFill/>
          <a:ln/>
        </p:spPr>
        <p:txBody>
          <a:bodyPr wrap="none" lIns="0" tIns="0" rIns="0" bIns="0" rtlCol="0" anchor="t"/>
          <a:lstStyle/>
          <a:p>
            <a:pPr marL="0" indent="0" algn="l">
              <a:lnSpc>
                <a:spcPct val="83000"/>
              </a:lnSpc>
              <a:buNone/>
            </a:pPr>
            <a:r>
              <a:rPr lang="en-US" sz="7400" dirty="0">
                <a:solidFill>
                  <a:srgbClr val="EAF6FA"/>
                </a:solidFill>
                <a:latin typeface="Saira Semi Condensed" pitchFamily="34" charset="0"/>
                <a:ea typeface="Saira Semi Condensed" pitchFamily="34" charset="-122"/>
                <a:cs typeface="Saira Semi Condensed" pitchFamily="34" charset="-120"/>
              </a:rPr>
              <a:t>THANK YOU!</a:t>
            </a:r>
            <a:endParaRPr lang="en-US" sz="7400" dirty="0"/>
          </a:p>
        </p:txBody>
      </p:sp>
      <p:sp>
        <p:nvSpPr>
          <p:cNvPr id="6" name="Text 2"/>
          <p:cNvSpPr/>
          <p:nvPr/>
        </p:nvSpPr>
        <p:spPr>
          <a:xfrm>
            <a:off x="4340414" y="4077891"/>
            <a:ext cx="10972526" cy="279400"/>
          </a:xfrm>
          <a:prstGeom prst="rect">
            <a:avLst/>
          </a:prstGeom>
          <a:noFill/>
          <a:ln/>
        </p:spPr>
        <p:txBody>
          <a:bodyPr wrap="none" lIns="0" tIns="0" rIns="0" bIns="0" rtlCol="0" anchor="t"/>
          <a:lstStyle/>
          <a:p>
            <a:pPr marL="0" indent="0" algn="l">
              <a:lnSpc>
                <a:spcPct val="92000"/>
              </a:lnSpc>
              <a:buNone/>
            </a:pPr>
            <a:r>
              <a:rPr lang="en-US" sz="2000" dirty="0">
                <a:solidFill>
                  <a:srgbClr val="A9DDF0"/>
                </a:solidFill>
                <a:latin typeface="Saira Semi Condensed" pitchFamily="34" charset="0"/>
                <a:ea typeface="Saira Semi Condensed" pitchFamily="34" charset="-122"/>
                <a:cs typeface="Saira Semi Condensed" pitchFamily="34" charset="-120"/>
              </a:rPr>
              <a:t>Questions, Feedback &amp; Discussion</a:t>
            </a:r>
            <a:endParaRPr lang="en-US" sz="2000" dirty="0"/>
          </a:p>
        </p:txBody>
      </p:sp>
      <p:sp>
        <p:nvSpPr>
          <p:cNvPr id="7" name="Shape 3"/>
          <p:cNvSpPr/>
          <p:nvPr/>
        </p:nvSpPr>
        <p:spPr>
          <a:xfrm>
            <a:off x="609585" y="5092601"/>
            <a:ext cx="10972526" cy="19050"/>
          </a:xfrm>
          <a:prstGeom prst="roundRect">
            <a:avLst>
              <a:gd name="adj" fmla="val 49999"/>
            </a:avLst>
          </a:prstGeom>
          <a:solidFill>
            <a:srgbClr val="A9DDF0"/>
          </a:solidFill>
          <a:ln/>
        </p:spPr>
      </p:sp>
      <p:pic>
        <p:nvPicPr>
          <p:cNvPr id="8" name="Image 2" descr="preencoded.png"/>
          <p:cNvPicPr>
            <a:picLocks noChangeAspect="1"/>
          </p:cNvPicPr>
          <p:nvPr/>
        </p:nvPicPr>
        <p:blipFill>
          <a:blip r:embed="rId5"/>
          <a:stretch>
            <a:fillRect/>
          </a:stretch>
        </p:blipFill>
        <p:spPr>
          <a:xfrm>
            <a:off x="609585" y="5314851"/>
            <a:ext cx="133347" cy="151110"/>
          </a:xfrm>
          <a:prstGeom prst="rect">
            <a:avLst/>
          </a:prstGeom>
        </p:spPr>
      </p:pic>
      <p:sp>
        <p:nvSpPr>
          <p:cNvPr id="9" name="Text 4"/>
          <p:cNvSpPr/>
          <p:nvPr/>
        </p:nvSpPr>
        <p:spPr>
          <a:xfrm>
            <a:off x="609585" y="5575181"/>
            <a:ext cx="5257668" cy="248841"/>
          </a:xfrm>
          <a:prstGeom prst="rect">
            <a:avLst/>
          </a:prstGeom>
          <a:noFill/>
          <a:ln/>
        </p:spPr>
        <p:txBody>
          <a:bodyPr wrap="none" lIns="0" tIns="0" rIns="0" bIns="0" rtlCol="0" anchor="t"/>
          <a:lstStyle/>
          <a:p>
            <a:pPr marL="0" indent="0" algn="l">
              <a:lnSpc>
                <a:spcPct val="117000"/>
              </a:lnSpc>
              <a:buNone/>
            </a:pPr>
            <a:r>
              <a:rPr lang="en-US" sz="1400" b="1" dirty="0">
                <a:solidFill>
                  <a:srgbClr val="EAF6FA"/>
                </a:solidFill>
                <a:latin typeface="Public Sans Bold" pitchFamily="34" charset="0"/>
                <a:ea typeface="Public Sans Bold" pitchFamily="34" charset="-122"/>
                <a:cs typeface="Public Sans Bold" pitchFamily="34" charset="-120"/>
              </a:rPr>
              <a:t>Martha Hemanth Sai </a:t>
            </a:r>
            <a:r>
              <a:rPr lang="en-US" sz="1400" dirty="0">
                <a:solidFill>
                  <a:srgbClr val="EAF6FA"/>
                </a:solidFill>
                <a:latin typeface="Public Sans" pitchFamily="34" charset="0"/>
                <a:ea typeface="Public Sans" pitchFamily="34" charset="-122"/>
                <a:cs typeface="Public Sans" pitchFamily="34" charset="-120"/>
              </a:rPr>
              <a:t>(2620030510)</a:t>
            </a:r>
            <a:endParaRPr lang="en-US" sz="1400" dirty="0"/>
          </a:p>
        </p:txBody>
      </p:sp>
      <p:pic>
        <p:nvPicPr>
          <p:cNvPr id="10" name="Image 3" descr="preencoded.png"/>
          <p:cNvPicPr>
            <a:picLocks noChangeAspect="1"/>
          </p:cNvPicPr>
          <p:nvPr/>
        </p:nvPicPr>
        <p:blipFill>
          <a:blip r:embed="rId5"/>
          <a:stretch>
            <a:fillRect/>
          </a:stretch>
        </p:blipFill>
        <p:spPr>
          <a:xfrm>
            <a:off x="6324442" y="5314851"/>
            <a:ext cx="133347" cy="151110"/>
          </a:xfrm>
          <a:prstGeom prst="rect">
            <a:avLst/>
          </a:prstGeom>
        </p:spPr>
      </p:pic>
      <p:sp>
        <p:nvSpPr>
          <p:cNvPr id="11" name="Text 5"/>
          <p:cNvSpPr/>
          <p:nvPr/>
        </p:nvSpPr>
        <p:spPr>
          <a:xfrm>
            <a:off x="6324442" y="5575181"/>
            <a:ext cx="5257668" cy="248841"/>
          </a:xfrm>
          <a:prstGeom prst="rect">
            <a:avLst/>
          </a:prstGeom>
          <a:noFill/>
          <a:ln/>
        </p:spPr>
        <p:txBody>
          <a:bodyPr wrap="none" lIns="0" tIns="0" rIns="0" bIns="0" rtlCol="0" anchor="t"/>
          <a:lstStyle/>
          <a:p>
            <a:pPr marL="0" indent="0" algn="l">
              <a:lnSpc>
                <a:spcPct val="117000"/>
              </a:lnSpc>
              <a:buNone/>
            </a:pPr>
            <a:r>
              <a:rPr lang="en-US" sz="1400" b="1" dirty="0">
                <a:solidFill>
                  <a:srgbClr val="EAF6FA"/>
                </a:solidFill>
                <a:latin typeface="Public Sans Bold" pitchFamily="34" charset="0"/>
                <a:ea typeface="Public Sans Bold" pitchFamily="34" charset="-122"/>
                <a:cs typeface="Public Sans Bold" pitchFamily="34" charset="-120"/>
              </a:rPr>
              <a:t>Pericharla Charan Varma </a:t>
            </a:r>
            <a:r>
              <a:rPr lang="en-US" sz="1400" dirty="0">
                <a:solidFill>
                  <a:srgbClr val="EAF6FA"/>
                </a:solidFill>
                <a:latin typeface="Public Sans" pitchFamily="34" charset="0"/>
                <a:ea typeface="Public Sans" pitchFamily="34" charset="-122"/>
                <a:cs typeface="Public Sans" pitchFamily="34" charset="-120"/>
              </a:rPr>
              <a:t>(2620030362)</a:t>
            </a:r>
            <a:endParaRPr lang="en-US" sz="1400" dirty="0"/>
          </a:p>
        </p:txBody>
      </p:sp>
      <p:sp>
        <p:nvSpPr>
          <p:cNvPr id="12" name="Shape 6"/>
          <p:cNvSpPr/>
          <p:nvPr/>
        </p:nvSpPr>
        <p:spPr>
          <a:xfrm>
            <a:off x="609585" y="5978327"/>
            <a:ext cx="1827961" cy="270173"/>
          </a:xfrm>
          <a:prstGeom prst="roundRect">
            <a:avLst>
              <a:gd name="adj" fmla="val 4231"/>
            </a:avLst>
          </a:prstGeom>
          <a:noFill/>
          <a:ln w="12700">
            <a:solidFill>
              <a:srgbClr val="A9DDF0"/>
            </a:solidFill>
            <a:prstDash val="solid"/>
          </a:ln>
        </p:spPr>
      </p:sp>
      <p:sp>
        <p:nvSpPr>
          <p:cNvPr id="13" name="Text 7"/>
          <p:cNvSpPr/>
          <p:nvPr/>
        </p:nvSpPr>
        <p:spPr>
          <a:xfrm>
            <a:off x="716242" y="6032328"/>
            <a:ext cx="2224230" cy="163612"/>
          </a:xfrm>
          <a:prstGeom prst="rect">
            <a:avLst/>
          </a:prstGeom>
          <a:noFill/>
          <a:ln/>
        </p:spPr>
        <p:txBody>
          <a:bodyPr wrap="none" lIns="0" tIns="0" rIns="0" bIns="0" rtlCol="0" anchor="t"/>
          <a:lstStyle/>
          <a:p>
            <a:pPr marL="0" indent="0" algn="l">
              <a:lnSpc>
                <a:spcPct val="96000"/>
              </a:lnSpc>
              <a:buNone/>
            </a:pPr>
            <a:r>
              <a:rPr lang="en-US" sz="1100" dirty="0">
                <a:solidFill>
                  <a:srgbClr val="A9DDF0"/>
                </a:solidFill>
                <a:latin typeface="Public Sans" pitchFamily="34" charset="0"/>
                <a:ea typeface="Public Sans" pitchFamily="34" charset="-122"/>
                <a:cs typeface="Public Sans" pitchFamily="34" charset="-120"/>
              </a:rPr>
              <a:t>END OF PRESENTATION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1671</Words>
  <Application>Microsoft Office PowerPoint</Application>
  <PresentationFormat>Widescreen</PresentationFormat>
  <Paragraphs>294</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Saira Semi Condensed</vt:lpstr>
      <vt:lpstr>Public Sans</vt:lpstr>
      <vt:lpstr>Public Sans Bold</vt:lpstr>
      <vt:lpstr>Public Sans SemiBold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dc:creator>
  <cp:lastModifiedBy>sai martha</cp:lastModifiedBy>
  <cp:revision>2</cp:revision>
  <dcterms:created xsi:type="dcterms:W3CDTF">2026-10-07T03:19:36Z</dcterms:created>
  <dcterms:modified xsi:type="dcterms:W3CDTF">2026-10-07T03:25:14Z</dcterms:modified>
</cp:coreProperties>
</file>